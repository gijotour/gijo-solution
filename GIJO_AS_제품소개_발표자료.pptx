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AS — 회사 밖으로 한 줄도 나가지 않는 AI 보안팀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4041648"/>
            <a:ext cx="2926080" cy="4572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A6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TECHNOLOGY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AS 제품소개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29718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8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밖으로 한 줄도 나가지 않는 AI 보안팀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42976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AFC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보안담당자가 채팅으로 지시하면, 사내에 설치된 AI 팀이 알아서 나눠 일하고 보고서까지 올립니다.
</a:t>
            </a:r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AI 연산은 귀사 서버 안에서만 돌아갑니다 — 데이터는 밖으로 나가지 않습니다.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760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5.11.0  ·  2026-08  ·  온프레미스 보안 운영 통합 플랫폼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말씀드리나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갈래로 나눠 설명드립니다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70048" cy="4114800"/>
          </a:xfrm>
          <a:prstGeom prst="roundRect">
            <a:avLst>
              <a:gd name="adj" fmla="val 2055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63040"/>
            <a:ext cx="2670048" cy="109728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7512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2926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보안담당자의 현실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제품의 목적과 핵심 가치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시연 시나리오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5848" y="1463040"/>
            <a:ext cx="2670048" cy="4114800"/>
          </a:xfrm>
          <a:prstGeom prst="roundRect">
            <a:avLst>
              <a:gd name="adj" fmla="val 2055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55848" y="1463040"/>
            <a:ext cx="2670048" cy="109728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20440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다른가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20440" y="2926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제품에 없는 두 가지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보안 시장 지형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제품과의 비교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1463040"/>
            <a:ext cx="2670048" cy="4114800"/>
          </a:xfrm>
          <a:prstGeom prst="roundRect">
            <a:avLst>
              <a:gd name="adj" fmla="val 2055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463040"/>
            <a:ext cx="2670048" cy="10972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373368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373368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73368" y="2926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구조(아키텍처)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AI의 신뢰성·안전장치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데이터를 만지는 규칙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61704" y="1463040"/>
            <a:ext cx="2670048" cy="4114800"/>
          </a:xfrm>
          <a:prstGeom prst="roundRect">
            <a:avLst>
              <a:gd name="adj" fmla="val 2055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61704" y="1463040"/>
            <a:ext cx="2670048" cy="10972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9226296" y="1737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226296" y="24231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도입하나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226296" y="2926080"/>
            <a:ext cx="23774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공공기관 N2SF 대응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라인업 3종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숫자와 4주 파일럿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— 경영진 요약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해법 · 결정적 차별점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3152" cy="117043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813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463040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인력은 부족한데 정보는 따로따로 도착합니다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91640" y="182880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취약점 스캐너·보안 로그·위협 정보·운영 리포트가 각각 도착하고, 그것을 연결해 「지금 무엇이 위험한가」를 판단하는 일은 담당자 머릿속 수작업으로 이뤄집니다. 여기에 사내 AI 자산 관리까지 추가됐습니다.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70048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70048"/>
            <a:ext cx="73152" cy="1170432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7977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761488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업무를 나눠 맡는 8명의 AI 팀을 드립니다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91640" y="312724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채팅창에 평소 말하듯 지시하면 AI 팀장이 각 분야 담당 AI에게 일을 나누고 결과를 취합합니다. 흩어진 정보는 제품이 자동으로 연결해 「위협 → 영향 자산 → 영향 서비스」까지 한 번에 보여줍니다.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68496"/>
            <a:ext cx="11155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968496"/>
            <a:ext cx="73152" cy="1170432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782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4059936"/>
            <a:ext cx="9784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모든 AI 연산이 귀사 서버 안에서만 돌아갑니다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91640" y="4425696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시중 AI 보안 서비스 대부분은 외부 클라우드로 데이터를 보내야 동작합니다. GIJO AS는 AI 두뇌 자체가 사내 GPU에 설치되어, 인터넷이 끊긴 폐쇄망에서도 전 기능이 동작합니다.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35838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EAF1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431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579729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외부로 나가는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데이터·프롬프트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46704" y="535838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EAF1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5431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346704" y="579729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분담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AI 에이전트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0488" y="535838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EAF1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5431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4갈래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90488" y="579729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관제 소스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(취약점·로그·리포트·점검)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034272" y="5358384"/>
            <a:ext cx="2651760" cy="896112"/>
          </a:xfrm>
          <a:prstGeom prst="roundRect">
            <a:avLst>
              <a:gd name="adj" fmla="val 6122"/>
            </a:avLst>
          </a:prstGeom>
          <a:solidFill>
            <a:srgbClr val="EAF1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34272" y="543153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2,748개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034272" y="5797296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품질 시험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통과 (실측)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 — 보안담당자의 현실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인원은 그대로인데, 처리할 일과 받는 정보는 계속 늘어납니다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046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현실의 고충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힘든가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보안제품 운영·관리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패치·설정 확인·장애 대응·발견 문제 전달을 사람이 일일이 추적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쏟아지는 보안 정보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로그, 위협 정보(CTI), 취약점 스캔 결과가 따로따로 도착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 간 대조가 수작업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「이 위협이 우리 어느 자산에?」「이 자산 문제가 어느 서비스에?」를 눈으로 매칭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반복되는 보고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임원·팀장 보고서, KPI를 매번 손으로 취합 — 보고서 때문에 야근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보안까지 추가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사내 AI 모델·AI 공급망이 새 관리 대상. 외부 무료 AI에 사내 정보를 붙여넣는 직원들도 걱정거리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규제·실사 요구 증가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소프트웨어 자재명세서(SBOM) 제출 요구가 공급망 실사·공공·금융 심사에서 점점 흔해짐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937760"/>
            <a:ext cx="11155680" cy="1051560"/>
          </a:xfrm>
          <a:prstGeom prst="roundRect">
            <a:avLst>
              <a:gd name="adj" fmla="val 5217"/>
            </a:avLst>
          </a:prstGeom>
          <a:solidFill>
            <a:srgbClr val="EAF1FF"/>
          </a:solidFill>
          <a:ln w="19050">
            <a:solidFill>
              <a:srgbClr val="2456C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0749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문제 —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데이터는 있는데 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연결이 안 되어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담당자가 그 연결을 머리로 대신하고 있습니다.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AS는 바로 그 「연결하는 일」과 「반복하는 일」을 AI가 대신하게 만든 제품입니다.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AS는 무엇인가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제품의 목적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716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100" b="1" dirty="0">
                <a:solidFill>
                  <a:srgbClr val="7FA6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정의  </a:t>
            </a:r>
            <a:pPr indent="0" marL="0">
              <a:lnSpc>
                <a:spcPts val="2300"/>
              </a:lnSpc>
              <a:buNone/>
            </a:pPr>
            <a:endParaRPr lang="en-US" sz="11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DE7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자산·취약점·위협 정보·보안장비 운영·컴플라이언스를 </a:t>
            </a:r>
            <a:endParaRPr lang="en-US" sz="11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하나의 폐쇄망 플랫폼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DE7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에서 다루고,
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특화 AI 에이전트 팀 + 로컬 LLM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DE7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담당자의 업무를 대신 수행·상관분석하는 </a:t>
            </a:r>
            <a:pPr indent="0" marL="0">
              <a:lnSpc>
                <a:spcPts val="23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보안 운영 통합 제품</a:t>
            </a:r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DE7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670048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274320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말하면 — </a:t>
            </a:r>
            <a:pPr indent="0" marL="0"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안에 「AI 보안팀 사무실」을 하나 차려 주는 제품입니다. 그 사무실의 AI 직원들은 회사 서버 안에서만 일하고, 회사 자료를 들고 밖으로 나가는 일이 없습니다.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456432"/>
            <a:ext cx="362102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456432"/>
            <a:ext cx="3621024" cy="91440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" y="3931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주권 — 나가지 않음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04088" y="4462272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분석하는 AI 자체가 사내 GPU에서 도는 개방형 모델입니다. 대화·문서·학습·보고서 전 과정이 조직 내부에서 완결되고, 폐쇄망·에어갭에서도 전 기능이 동작합니다.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06824" y="3456432"/>
            <a:ext cx="362102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6824" y="3456432"/>
            <a:ext cx="3621024" cy="9144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15" name="Text 13"/>
          <p:cNvSpPr/>
          <p:nvPr/>
        </p:nvSpPr>
        <p:spPr>
          <a:xfrm>
            <a:off x="4507992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07992" y="3931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상관 — 정보를 엮음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07992" y="4462272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위협 정보 → 영향 자산 → 영향 업무 서비스, 스캔 취약점 → 승인 검토 → SBOM 반영. 담당자가 눈으로 하던 대조를 제품이 자동으로 연결합니다.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10728" y="3456432"/>
            <a:ext cx="3621024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0728" y="3456432"/>
            <a:ext cx="3621024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8311896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11896" y="39319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쓸수록 똑똑해짐 — 안전하게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311896" y="4462272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문서를 AI의 장기 기억에 넣고, 현장 문답으로 분야별 전문가를 길러냅니다. 단, 품질 검증을 통과해 사람이 채택해야만 반영됩니다.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제품에 없는 두 가지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 시장 조사에서 국내외 경쟁 제품에서 찾지 못한 기능입니다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25400">
            <a:solidFill>
              <a:srgbClr val="245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440680" cy="9144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17556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보안팀 인수인계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퇴사자의 머릿속을 남깁니다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5420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방화벽을 5년 맡던 담당자가 떠나고 후임자는 경력 1년 — 이때 사라지는 것은 문서가 아니라 장비 요령·오탐 사연 같은 머릿속 지식입니다.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284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28416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마법사로 받아 적되, 핵심은 3단계입니다 — AI가 문서마다 검증 질문을 만들어 실제로 물어본 뒤, 그 문서가 근거로 인용되는지 판정합니다.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114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후임자는 대화창에 물어보는 것만으로 근거 문서와 함께 넘겨받습니다. 이관 리포트는 퇴사 후 분쟁에 대비하는 감사 증적이 됩니다.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440680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25400">
            <a:solidFill>
              <a:srgbClr val="187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25880"/>
            <a:ext cx="5440680" cy="91440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 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46520" y="17556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대조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46520" y="21579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「이거 해도 돼?」에 근거로 답합니다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254203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542032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규정 문서만을 근거로 가능·조건부·불가를 판정하고, 규정 원문 발췌를 함께 보여 줍니다. 발췌는 코드가 원문을 그대로 오려 붙여 왜곡되지 않습니다.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328416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3328416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없으면 판정하지 않습니다 — 「판단 불가, 근거를 찾지 못했습니다」가 답입니다. 그 규정을 올리는 순간부터 답하기 시작합니다.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46520" y="41148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4114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사안을 다시 물으면 지난 판정을 함께 보여 주되, 판정은 매번 새로 합니다(규정이 바뀌면 답도 바뀌어야 하므로).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16636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EAF1FF"/>
          </a:solidFill>
          <a:ln w="19050">
            <a:solidFill>
              <a:srgbClr val="245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66944"/>
            <a:ext cx="10607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둘이 「해자」인가 — 기능은 베낄 수 있지만 고객사 안에 쌓인 데이터는 베낄 수 없습니다.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이력·오탐 판정 족보·규정 매핑은 쓸수록 그 조직에만 맞게 두꺼워지고, 다른 제품으로 옮기는 비용이 계속 커집니다. 대형 벤더가 뒤늦게 같은 기능을 내놓아도 축적된 것까지 가져갈 수는 없습니다.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매일 하던 일 → GIJO AS가 대신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지시문은 실제 제품에서 동작하는 명령입니다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93192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담당자의 수작업 (기존)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GIJO AS 자동화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자연어 지시 예시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스캐너 리포트 수백 건을 눈으로 정렬해 「뭐부터?」 판단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악용 여부(KEV)·악용 확률(EPSS)로 우선순위 자동 산정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뭐부터 조치해야 해?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취약점마다 담당자·기한을 수기 배정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담당자·기한 자동 배정 (결재판 승인 후 실행)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급한 취약점 담당자랑 기한 배정해줘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아침마다 상황을 손으로 취합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오늘의 보안 브리핑 즉석 생성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 브리핑 해줘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위협이 어느 자산·서비스에 영향인지 눈으로 대조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위협 → 자산 → 서비스 자동 상관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위협 우리 어느 자산에 영향?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주간·임원 보고서를 매번 손으로 작성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보고서 자동 생성(워드) + 메일 발송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주간 보안 리포트 작성해줘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보안장비 설정을 수동 점검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KISA U-시리즈 + 국제 CIS 기준 점검·리포트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서버 하드닝 점검해줘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「조치했다는데 실제로 고쳐졌나?」 수동 재확인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재스캔으로 해결 여부 자동 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2456C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(조치 보고 → 재스캔 → 완료 자동 확정)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5216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비슷한 표현이 와도 같은 기능으로 처리됩니다. 여러 작업을 한 문장으로 지시하면 순서대로 자동 실행합니다(복합 지시).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시연 시나리오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시연 대본입니다 — 모든 지시문은 운영 서버에 실제로 던져 응답을 확인한 것만 실었습니다 (각 5분, 전체 22~25분)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3152" cy="1060704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46304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혼자 남은 월요일 아침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3232" y="17922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 부족·업무 과다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0299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2명 중 1명이 휴가. 스캐너 리포트는 쌓였고, 오늘 뭐부터 볼지 정하는 것부터가 일입니다.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703320" y="148132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앱을 열면 아무것도 누르지 않았는데 브리핑이 먼저 와 있습니다. 「오늘 뭐부터 볼까?」 → 실제 악용(KEV)→악용 확률(EPSS)→위험도(VPR) 순으로 줄을 세워 답합니다. 감이 아니라 기준입니다.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542032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42032"/>
            <a:ext cx="73152" cy="1060704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334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퇴사자의 머릿속을 남기다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29626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1호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3232" y="32004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방화벽 담당 5년 차가 다음 달 퇴사. 후임자는 보안 경력 1년.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03320" y="26517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 마법사로 받아 적고, AI가 검증 질문으로 실제 물어봐 쓸모를 판정합니다. 후임자가 「ASA 106023 로그가 계속 올라오는데 무슨 의미야?」라고 물으면 전임자 문서를 근거로 붙여 답합니다.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12464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712464"/>
            <a:ext cx="73152" cy="1060704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8039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이거 해도 되나?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3232" y="41330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차별화 2호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13232" y="4370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시스템 접속기록 보관 주기를 바꾸려 합니다.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03320" y="382219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「보관 주기를 6개월로 줄여도 돼?」 → 사내 규정 원문 발췌와 함께 판정. 규정 문서가 없는 주제(「USB 반출 정책 완화해도 돼?」)에는 지어내지 않고 「판단 불가」라고 답합니다.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882896"/>
            <a:ext cx="11155680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4882896"/>
            <a:ext cx="73152" cy="1060704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97433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보고가 저녁을 먹어치우지 않게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13232" y="530352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상급자 보고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" y="55412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금요일 16시, 팀장이 「주간 현황 정리해서 올려줘」.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03320" y="4992624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「이번 주 한 일 정리해줘」 → 처리 건수와 사람이 했다면 걸렸을 시간까지 즉답. 「주간 리포트 작성해줘」 → 워드 문서가 실제로 만들어집니다. 매주 월요일 자동 생성도 이미 돌고 있습니다.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108192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시연의 값은 기능이 아니라 시간입니다 — 아침 취합 30분이 지시 세 줄이 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이렇게 달라집니다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오후의 5분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90472"/>
            <a:ext cx="502920" cy="502920"/>
          </a:xfrm>
          <a:prstGeom prst="ellipse">
            <a:avLst/>
          </a:prstGeom>
          <a:solidFill>
            <a:srgbClr val="2456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00100" y="2011680"/>
            <a:ext cx="0" cy="292608"/>
          </a:xfrm>
          <a:prstGeom prst="line">
            <a:avLst/>
          </a:prstGeom>
          <a:noFill/>
          <a:ln w="25400">
            <a:solidFill>
              <a:srgbClr val="C9D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한 문장 입력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26280" y="14630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「web-api 자산 점검하고 결과 정리해줘」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2456C9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8716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0100" y="2944368"/>
            <a:ext cx="0" cy="292608"/>
          </a:xfrm>
          <a:prstGeom prst="line">
            <a:avLst/>
          </a:prstGeom>
          <a:noFill/>
          <a:ln w="25400">
            <a:solidFill>
              <a:srgbClr val="C9D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957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팀장이 일을 나눔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239572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점검 담당 AI에게 작업을 넘기고, 옆자리 동료 화면에도 상태가 그 순간 바로 갱신됩니다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502920" cy="502920"/>
          </a:xfrm>
          <a:prstGeom prst="ellipse">
            <a:avLst/>
          </a:prstGeom>
          <a:solidFill>
            <a:srgbClr val="2456C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1985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0100" y="3877056"/>
            <a:ext cx="0" cy="292608"/>
          </a:xfrm>
          <a:prstGeom prst="line">
            <a:avLst/>
          </a:prstGeom>
          <a:noFill/>
          <a:ln w="25400">
            <a:solidFill>
              <a:srgbClr val="C9D8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32841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AI가 결과 요약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26280" y="332841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AI들이 주고받는 작업 내역이 화면 한쪽에 실시간으로 흐릅니다 — 결과만 툭 던지는 블랙박스가 아닙니다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187A4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5254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42611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더 — 보고서까지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26280" y="426110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「경영진 보고서로 만들어서 보내줘」 → 임원 눈높이 워드 보고서가 담당 부서 메일함에 도착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120640"/>
            <a:ext cx="7040880" cy="987552"/>
          </a:xfrm>
          <a:prstGeom prst="roundRect">
            <a:avLst>
              <a:gd name="adj" fmla="val 5556"/>
            </a:avLst>
          </a:prstGeom>
          <a:solidFill>
            <a:srgbClr val="F1FAF5"/>
          </a:solidFill>
          <a:ln w="19050">
            <a:solidFill>
              <a:srgbClr val="187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212080"/>
            <a:ext cx="65836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한 일은 문장 두 개를 입력한 것뿐입니다.
</a:t>
            </a:r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이 과정에서 회사 데이터는 단 한 번도 사옥 밖으로 나가지 않았습니다.</a:t>
            </a:r>
            <a:endParaRPr lang="en-US" sz="1250" dirty="0"/>
          </a:p>
        </p:txBody>
      </p:sp>
      <p:pic>
        <p:nvPicPr>
          <p:cNvPr id="25" name="Image 0" descr="D:\Connect AI\screenshots\deck\22-팀사무실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371600"/>
            <a:ext cx="3913632" cy="2606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0" y="4005072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팀 사무실 — 어느 AI가 지금 무엇을 붙들고 있는지 자리마다 보입니다</a:t>
            </a:r>
            <a:endParaRPr lang="en-US" sz="900" dirty="0"/>
          </a:p>
        </p:txBody>
      </p:sp>
      <p:pic>
        <p:nvPicPr>
          <p:cNvPr id="27" name="Image 1" descr="D:\Connect AI\screenshots\deck\28-작업세션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315968"/>
            <a:ext cx="3913632" cy="1783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 — AI가 오늘 볼 것을 먼저 정리해 둡니다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메뉴는 일하는 순서대로 놓여 있습니다 (발견·수집 → 우선순위 → 조치 → 검증 → 보고)</a:t>
            </a:r>
            <a:endParaRPr lang="en-US" sz="1250" dirty="0"/>
          </a:p>
        </p:txBody>
      </p:sp>
      <p:pic>
        <p:nvPicPr>
          <p:cNvPr id="4" name="Image 0" descr="D:\Connect AI\screenshots\deck\13-메인대시보드-지휘콘솔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234440"/>
            <a:ext cx="877824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60533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운영 화면 — 꾸며 만든 그림이 아닙니다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보안 시장에서 GIJO AS의 자리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7월 공개 자료 조사 기준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89320" y="1417320"/>
            <a:ext cx="0" cy="4343400"/>
          </a:xfrm>
          <a:prstGeom prst="line">
            <a:avLst/>
          </a:prstGeom>
          <a:noFill/>
          <a:ln w="19050">
            <a:solidFill>
              <a:srgbClr val="C2CB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3657600"/>
            <a:ext cx="9509760" cy="0"/>
          </a:xfrm>
          <a:prstGeom prst="line">
            <a:avLst/>
          </a:prstGeom>
          <a:noFill/>
          <a:ln w="19050">
            <a:solidFill>
              <a:srgbClr val="C2CB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1772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SaaS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60520" y="5779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온프레미스 / 에어갭 (폐쇄망)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32735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기능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0" y="32735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(수렴)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17320" y="16002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2F4F9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AI-SPM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Wiz · Orca · Palo Alto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멀티클라우드 스캔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37960" y="1600200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2F4F9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방화벽 (전문 제품)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07568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Lakera · Prompt Security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프롬프트를 API로 전송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4041648"/>
            <a:ext cx="3931920" cy="1143000"/>
          </a:xfrm>
          <a:prstGeom prst="roundRect">
            <a:avLst>
              <a:gd name="adj" fmla="val 4800"/>
            </a:avLst>
          </a:prstGeom>
          <a:solidFill>
            <a:srgbClr val="F2F4F9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0" y="41788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보안 (전문 제품)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54480" y="451713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HiddenLayer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스캐닝 한 축에 집중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3950208"/>
            <a:ext cx="4206240" cy="1508760"/>
          </a:xfrm>
          <a:prstGeom prst="roundRect">
            <a:avLst>
              <a:gd name="adj" fmla="val 3636"/>
            </a:avLst>
          </a:prstGeom>
          <a:solidFill>
            <a:srgbClr val="EAF1FF"/>
          </a:solidFill>
          <a:ln w="31750">
            <a:solidFill>
              <a:srgbClr val="245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069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GIJO AS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448056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AI-BOM + 취약점관리 + LLM 보안 + 통합관제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장비 하드닝을 폐쇄망 한곳에 · AI 팀이 실행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5532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제품이 비어 있는 사분면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제품과의 비교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축의 전문 제품은 그 축에서 더 깊습니다 — 우리 값은 「폐쇄망에서 여러 축을 하나로」입니다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103120"/>
                <a:gridCol w="1965960"/>
                <a:gridCol w="17830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GIJO AS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클라우드 AI-SPM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 방화벽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보안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51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완전 온프레미스/에어갭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클라우드 중심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SaaS/API 중심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CI/CD·클라우드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유출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51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없음 (폐쇄망 완결)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자사 클라우드로 전송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프롬프트를 API로 전송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스캔 결과 클라우드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분석용 AI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51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로컬 GPU 개방형 모델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벤더 클라우드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벤더 클라우드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벤더 클라우드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전통 취약점관리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51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통합 (KEV/EPSS/VPR)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팀 자동 업무수행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51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자연어 지시 →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(대시보드)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정합 (한국어·KISA)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51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✓ 특화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영어·글로벌 우선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 우선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영어 우선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FDF7EC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230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 밝힙니다 —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공격 탐지 정밀도·모델 포맷 커버리지 같은 단일 축 깊이는 그 축의 전문 벤더가 앞섭니다.
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AS의 가치는 깊이 경쟁이 아니라 「폐쇄망 안에서 여러 축을 하나로 엮고, AI 팀이 실제로 일하게 하는 것」에 있습니다.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구조 — 3계층, GPU 서버 한 대로 완결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1대가 모든 상태를 단독 소유하고, 여러 담당자 데스크톱이 접속합니다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74552" cy="5074920"/>
          </a:xfrm>
          <a:prstGeom prst="roundRect">
            <a:avLst>
              <a:gd name="adj" fmla="val 541"/>
            </a:avLst>
          </a:prstGeom>
          <a:solidFill>
            <a:srgbClr val="FBFDFB"/>
          </a:solidFill>
          <a:ln w="25400">
            <a:solidFill>
              <a:srgbClr val="187A4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1243584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 폐쇄망 (사내 네트워크) — 모든 데이터·AI 연산이 이 안에서 완결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572768"/>
            <a:ext cx="10607040" cy="1005840"/>
          </a:xfrm>
          <a:prstGeom prst="roundRect">
            <a:avLst>
              <a:gd name="adj" fmla="val 5455"/>
            </a:avLst>
          </a:prstGeom>
          <a:solidFill>
            <a:srgbClr val="F6F8FC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93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담당자 데스크톱 앱 (여러 대)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847088"/>
            <a:ext cx="10241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보안담당자 PC에 설치되는 전용 프로그램. 화면 표시와 지시 입력만 담당 — 데이터를 갖지 않습니다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121408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94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A 화면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2121408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194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B 화면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2121408"/>
            <a:ext cx="20116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194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C 화면 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80960" y="2121408"/>
            <a:ext cx="3520440" cy="384048"/>
          </a:xfrm>
          <a:prstGeom prst="roundRect">
            <a:avLst>
              <a:gd name="adj" fmla="val 14286"/>
            </a:avLst>
          </a:prstGeom>
          <a:solidFill>
            <a:srgbClr val="EAF1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1945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지시는 대화창 한 곳으로 (오조작 방지)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615184"/>
            <a:ext cx="0" cy="146304"/>
          </a:xfrm>
          <a:prstGeom prst="line">
            <a:avLst/>
          </a:prstGeom>
          <a:noFill/>
          <a:ln w="2540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309360" y="2596896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요청/응답 + 실시간 알림 7채널 — 변화가 생기면 전 담당자 화면이 새로고침 없이 즉시 갱신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2798064"/>
            <a:ext cx="10607040" cy="1444752"/>
          </a:xfrm>
          <a:prstGeom prst="roundRect">
            <a:avLst>
              <a:gd name="adj" fmla="val 3797"/>
            </a:avLst>
          </a:prstGeom>
          <a:solidFill>
            <a:srgbClr val="EAF1FF"/>
          </a:solidFill>
          <a:ln w="25400">
            <a:solidFill>
              <a:srgbClr val="245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GIJO AS 서버 — 모든 상태를 단독 소유하는 두뇌 본부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3072384"/>
            <a:ext cx="10241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인증·권한 / AI 팀 지휘(오케스트레이션) / 상관분석 엔진 / 승인·감사 거버넌스 / 자산·SBOM / 위협 정보 / 알림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3346704"/>
            <a:ext cx="24505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419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데이터베이스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33272" y="367588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자산·취약점·점검·감사기록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547872" y="3346704"/>
            <a:ext cx="24505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419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결재판 (승인 게이트)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21024" y="367588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 작업은 사람 승인 후 실행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35624" y="3346704"/>
            <a:ext cx="24505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3419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가드레일·입력 관문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08776" y="367588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공격 차단·개인정보 가림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723376" y="3346704"/>
            <a:ext cx="245059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23376" y="3419856"/>
            <a:ext cx="24505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에어갭 봉인 관문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96528" y="3675888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바깥으로 나가는 통로 한곳 차단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80760" y="4279392"/>
            <a:ext cx="0" cy="146304"/>
          </a:xfrm>
          <a:prstGeom prst="line">
            <a:avLst/>
          </a:prstGeom>
          <a:noFill/>
          <a:ln w="2540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6309360" y="426110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머신 안에서만 호출 — 네트워크 밖으로 나가지 않습니다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77240" y="4462272"/>
            <a:ext cx="10607040" cy="1737360"/>
          </a:xfrm>
          <a:prstGeom prst="roundRect">
            <a:avLst>
              <a:gd name="adj" fmla="val 3158"/>
            </a:avLst>
          </a:prstGeom>
          <a:solidFill>
            <a:srgbClr val="F1FAF5"/>
          </a:solidFill>
          <a:ln w="22860">
            <a:solidFill>
              <a:srgbClr val="187A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44988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로컬 AI 실행 영역 — 사내 GPU에서 도는 AI 두뇌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0120" y="4791456"/>
            <a:ext cx="329184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86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LLM 서빙 (llama.cpp)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51560" y="5157216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베이스 모델 1개 + 분야별 전문가 어댑터 N개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모델을 직접 골라 올릴 수 있고(BYOM),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맞추는 일은 제품이 자동으로 합니다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16552" y="4791456"/>
            <a:ext cx="329184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16552" y="486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기억 (RAG)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07992" y="5157216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문서·매뉴얼 지식 저장소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(의미 검색 + 글자 검색 두 갈래)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+ 6대 보안표준 관계망(온톨로지)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872984" y="4791456"/>
            <a:ext cx="3291840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FE3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72984" y="486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스캔·학습 도구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964424" y="5157216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파일 정적 스캔(ModelScan)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어댑터 학습(QLoRA)</a:t>
            </a:r>
            <a:endParaRPr lang="en-US" sz="9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시 추론 엔진과 GPU를 자동 교대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하나가 답이 되기까지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문장을 만드는 일만 하고, 사실은 데이터베이스와 문서가 댑니다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200400" cy="841248"/>
          </a:xfrm>
          <a:prstGeom prst="roundRect">
            <a:avLst>
              <a:gd name="adj" fmla="val 6522"/>
            </a:avLst>
          </a:prstGeom>
          <a:solidFill>
            <a:srgbClr val="EAF1FF"/>
          </a:solidFill>
          <a:ln w="19050">
            <a:solidFill>
              <a:srgbClr val="245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44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담당자 질문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지금 보는 화면 맥락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749040" y="1792224"/>
            <a:ext cx="457200" cy="0"/>
          </a:xfrm>
          <a:prstGeom prst="line">
            <a:avLst/>
          </a:prstGeom>
          <a:noFill/>
          <a:ln w="2540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251960" y="1371600"/>
            <a:ext cx="3200400" cy="841248"/>
          </a:xfrm>
          <a:prstGeom prst="roundRect">
            <a:avLst>
              <a:gd name="adj" fmla="val 6522"/>
            </a:avLst>
          </a:prstGeom>
          <a:solidFill>
            <a:srgbClr val="FDF7EC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444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 관문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196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가림 · 공격 차단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1792224"/>
            <a:ext cx="457200" cy="0"/>
          </a:xfrm>
          <a:prstGeom prst="line">
            <a:avLst/>
          </a:prstGeom>
          <a:noFill/>
          <a:ln w="2540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1371600"/>
            <a:ext cx="3200400" cy="841248"/>
          </a:xfrm>
          <a:prstGeom prst="roundRect">
            <a:avLst>
              <a:gd name="adj" fmla="val 6522"/>
            </a:avLst>
          </a:prstGeom>
          <a:solidFill>
            <a:srgbClr val="EAF1FF"/>
          </a:solidFill>
          <a:ln w="19050">
            <a:solidFill>
              <a:srgbClr val="245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144475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무엇을 물었나 판단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0100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우선 · 로컬 LLM 보조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5852160" y="2249424"/>
            <a:ext cx="3749040" cy="54864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01200" y="2249424"/>
            <a:ext cx="0" cy="54864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2103120" y="2249424"/>
            <a:ext cx="7498080" cy="54864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2920" y="285292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실행 (37종)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2648" y="3273552"/>
            <a:ext cx="2980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데이터베이스에서 사실을 가져옵니다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· 취약점 · 점검 · 감사 기록 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285292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검색 (RAG)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361688" y="3273552"/>
            <a:ext cx="2980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문서에서 근거 조각을 찾습니다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 + 글자 검색 두 갈래를 합침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01000" y="2852928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01000" y="29443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안내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110728" y="3273552"/>
            <a:ext cx="2980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서버의 고정 안내문을 사용합니다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(AI를 안 거쳐 빠르고 답이 일관됨)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3986784"/>
            <a:ext cx="2743200" cy="50292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852160" y="3986784"/>
            <a:ext cx="0" cy="50292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6858000" y="3986784"/>
            <a:ext cx="2743200" cy="50292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97480" y="4535424"/>
            <a:ext cx="6309360" cy="868680"/>
          </a:xfrm>
          <a:prstGeom prst="roundRect">
            <a:avLst>
              <a:gd name="adj" fmla="val 6316"/>
            </a:avLst>
          </a:prstGeom>
          <a:solidFill>
            <a:srgbClr val="F1FAF5"/>
          </a:solidFill>
          <a:ln w="25400">
            <a:solidFill>
              <a:srgbClr val="187A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97480" y="46268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로컬 LLM이 문장으로 씁니다 — 근거 안에서만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4956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없으면 「사내 자료에 없습니다」라고 답합니다 (지어내기 금지)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5440680"/>
            <a:ext cx="0" cy="292608"/>
          </a:xfrm>
          <a:prstGeom prst="line">
            <a:avLst/>
          </a:prstGeom>
          <a:noFill/>
          <a:ln w="2540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23360" y="5760720"/>
            <a:ext cx="3657600" cy="502920"/>
          </a:xfrm>
          <a:prstGeom prst="roundRect">
            <a:avLst>
              <a:gd name="adj" fmla="val 10909"/>
            </a:avLst>
          </a:prstGeom>
          <a:solidFill>
            <a:srgbClr val="EAF1FF"/>
          </a:solidFill>
          <a:ln w="19050">
            <a:solidFill>
              <a:srgbClr val="245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5852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답변 + 근거 문서명 표시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29600" y="54864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8366760" y="5577840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말하면 —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「기억나는 대로 말해 봐」가 아니라 「찾은 것만 말해」입니다. 그래서 답마다 출처가 붙습니다.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상관 — 위협이 도착하면 벌어지는 일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구동 데이터: 위협 5건 중 4건이 자산에 자동 매칭, 무관한 1건은 오탐 없이 제외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수집된 위협 정보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8056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영향받는 내부 자산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458200" y="12344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영향받는 업무 서비스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627632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DF0F0"/>
          </a:solidFill>
          <a:ln w="12700">
            <a:solidFill>
              <a:srgbClr val="E5B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719072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Qwen2.5 모델 공급망 위협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2029968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52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심각도: 주의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DEAEA"/>
          </a:solidFill>
          <a:ln w="12700">
            <a:solidFill>
              <a:srgbClr val="DD9B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560320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bge-m3 배포 패키지 악성코드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71216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심각도: 긴급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3310128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DF0F0"/>
          </a:solidFill>
          <a:ln w="12700">
            <a:solidFill>
              <a:srgbClr val="E5B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401568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KoBERT 프롬프트 공격 캠페인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712464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52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심각도: 주의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DF6F0"/>
          </a:solidFill>
          <a:ln w="12700">
            <a:solidFill>
              <a:srgbClr val="E0C5A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4242816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이상탐지 우회 기법 공개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4553712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77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심각도: 정보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992624"/>
            <a:ext cx="3200400" cy="713232"/>
          </a:xfrm>
          <a:prstGeom prst="roundRect">
            <a:avLst>
              <a:gd name="adj" fmla="val 7692"/>
            </a:avLst>
          </a:prstGeom>
          <a:solidFill>
            <a:srgbClr val="F4F5F8"/>
          </a:solidFill>
          <a:ln w="12700">
            <a:solidFill>
              <a:srgbClr val="D4DB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5084064"/>
            <a:ext cx="3072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다크웹 계정 유출 (우리와 무관)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5394960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5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오탐 없이 자동 제외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80560" y="18745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EAF1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19842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보안 상담 챗봇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2295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근거: qwen2 · bge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80560" y="32461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EAF1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33558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민감도 분류 AI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3666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근거: kobert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80560" y="46177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EAF1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727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이상행위 탐지 엔진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5038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매칭 근거: isolationforest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458200" y="18745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DF0F0"/>
          </a:solidFill>
          <a:ln w="19050">
            <a:solidFill>
              <a:srgbClr val="DD9B9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19842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 보안 포털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22951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높음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458200" y="32461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DF0F0"/>
          </a:solidFill>
          <a:ln w="19050">
            <a:solidFill>
              <a:srgbClr val="DD9B9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33558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문서관리 시스템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36667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높음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458200" y="461772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DF0F0"/>
          </a:solidFill>
          <a:ln w="19050">
            <a:solidFill>
              <a:srgbClr val="DD9B9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47274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F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 관제 플랫폼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58200" y="50383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높음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30752" y="1984248"/>
            <a:ext cx="722376" cy="27432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3730752" y="2258568"/>
            <a:ext cx="722376" cy="566928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3730752" y="3630168"/>
            <a:ext cx="722376" cy="36576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730752" y="4507992"/>
            <a:ext cx="722376" cy="493776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08392" y="2258568"/>
            <a:ext cx="722376" cy="0"/>
          </a:xfrm>
          <a:prstGeom prst="line">
            <a:avLst/>
          </a:prstGeom>
          <a:noFill/>
          <a:ln w="1905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708392" y="3630168"/>
            <a:ext cx="722376" cy="0"/>
          </a:xfrm>
          <a:prstGeom prst="line">
            <a:avLst/>
          </a:prstGeom>
          <a:noFill/>
          <a:ln w="1905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708392" y="5001768"/>
            <a:ext cx="722376" cy="0"/>
          </a:xfrm>
          <a:prstGeom prst="line">
            <a:avLst/>
          </a:prstGeom>
          <a:noFill/>
          <a:ln w="19050">
            <a:solidFill>
              <a:srgbClr val="2456C9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02920" y="58978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위협 → 자산 → 서비스까지 자동으로 이어져, 담당자는 「무엇부터 할지」만 결정하면 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메뉴가 곧 업무 순서 — 절차 5단계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메뉴를 데이터 창고가 아니라 「일하는 순서」로 세웠습니다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148840" cy="1371600"/>
          </a:xfrm>
          <a:prstGeom prst="chevron">
            <a:avLst>
              <a:gd name="adj" fmla="val 4000"/>
            </a:avLst>
          </a:prstGeom>
          <a:solidFill>
            <a:srgbClr val="2456C9"/>
          </a:solidFill>
          <a:ln w="12700">
            <a:solidFill>
              <a:srgbClr val="2456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2212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발견·수집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 결과·로그·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위협 정보를 받아들임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70632" y="1691640"/>
            <a:ext cx="2148840" cy="1371600"/>
          </a:xfrm>
          <a:prstGeom prst="chevron">
            <a:avLst>
              <a:gd name="adj" fmla="val 4000"/>
            </a:avLst>
          </a:prstGeom>
          <a:solidFill>
            <a:srgbClr val="2456C9"/>
          </a:solidFill>
          <a:ln w="12700">
            <a:solidFill>
              <a:srgbClr val="245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70632" y="2212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16352" y="32004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악용·악용 확률로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「오늘 뭐부터」를 가림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38344" y="1691640"/>
            <a:ext cx="2148840" cy="1371600"/>
          </a:xfrm>
          <a:prstGeom prst="chevron">
            <a:avLst>
              <a:gd name="adj" fmla="val 4000"/>
            </a:avLst>
          </a:prstGeom>
          <a:solidFill>
            <a:srgbClr val="2456C9"/>
          </a:solidFill>
          <a:ln w="12700">
            <a:solidFill>
              <a:srgbClr val="245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38344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38344" y="2212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84064" y="32004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담당자·기한을 붙여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조치로 전환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06056" y="1691640"/>
            <a:ext cx="2148840" cy="1371600"/>
          </a:xfrm>
          <a:prstGeom prst="chevron">
            <a:avLst>
              <a:gd name="adj" fmla="val 4000"/>
            </a:avLst>
          </a:prstGeom>
          <a:solidFill>
            <a:srgbClr val="2456C9"/>
          </a:solidFill>
          <a:ln w="12700">
            <a:solidFill>
              <a:srgbClr val="245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06056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06056" y="2212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51776" y="32004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재스캔으로 정말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닫혔는지 확인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73768" y="1691640"/>
            <a:ext cx="2148840" cy="1371600"/>
          </a:xfrm>
          <a:prstGeom prst="roundRect">
            <a:avLst>
              <a:gd name="adj" fmla="val 4000"/>
            </a:avLst>
          </a:prstGeom>
          <a:solidFill>
            <a:srgbClr val="187A4B"/>
          </a:solidFill>
          <a:ln w="12700">
            <a:solidFill>
              <a:srgbClr val="18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73768" y="18288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73768" y="22128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19488" y="320040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KPI·임원 보고서를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생성·발송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1605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단계가 각각 「허브 한 화면」입니다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4626864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허브 위쪽 띠에서 현황을 한눈에 보고, 판을 누르면 아래 무대에서 그 화면이 열립니다. 담당자가 취약점 한 바퀴를 도는 데 그룹 세 곳을 오가던 것을 없앴습니다.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160520"/>
            <a:ext cx="5440680" cy="1417320"/>
          </a:xfrm>
          <a:prstGeom prst="roundRect">
            <a:avLst>
              <a:gd name="adj" fmla="val 3871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27939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지시는 대화창 한 곳에서만 받습니다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626864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보여 주는 일만 합니다. 입력 창구를 하나로 모아 오조작과 이중 입력을 구조적으로 막았고, 모든 지시는 감사 기록에 남습니다.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어떻게 똑똑한가 — 회사 문서가 AI의 지식이 됩니다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기억(RAG)과 지식 인입 관문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검색은 두 갈래를 합칩니다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 —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「방화벽 점검 어떻게 해?」 같은 말뜻으로 찾습니다
</a:t>
            </a:r>
            <a:pPr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검색 — 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CVE-2024-1234 · U-01 같은 코드를 글자 그대로 정확히 찾습니다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사람도 책을 찾을 때 「대충 이런 내용」으로 찾을 때가 있고 「정확히 이 단어」로 찾을 때가 있습니다. 둘 다 쓰기에 의미 질문도 코드 질문도 놓치지 않습니다.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1FAF5"/>
          </a:solidFill>
          <a:ln w="19050">
            <a:solidFill>
              <a:srgbClr val="18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4447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온톨로지 — 보안 표준끼리의 관계망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46520" y="18288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6대 보안 표준(KISA · MITRE ATT&amp;CK · ATLAS · OWASP · NIST · CWE)의 코드 약 2,000개 관계를 그래프로 내장합니다. RAG가 「이 내용이 어디 적혀 있나」를 찾는다면, 온톨로지는 「이 코드가 저 표준의 무엇과 이어지나」를 답합니다.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27614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직후부터 들어 있고, 폐쇄망에서도 파일 하나로 갱신됩니다(전자 서명이 맞지 않으면 반입 거부).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인입 관문 — 쓰레기가 지식이 되지 않게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3785616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저장소는 「넣을 때」 지킵니다. 검색할 때 걸러 내는 것만으로는 늦기 때문입니다.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11480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114800"/>
            <a:ext cx="265176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관문 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" y="44805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꺼내기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7512" y="4809744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PDF·한글(HWP)·오피스 문서를 전용 추출기로 읽습니다. 못 읽는 문서가 「읽힌 척」 저장되는 일을 막습니다.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46704" y="411480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46704" y="4114800"/>
            <a:ext cx="265176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3511296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관문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511296" y="44805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 위생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11296" y="4809744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읽을 수 없는 조각(깨진 글자·인코딩 덩어리)은 저장 전에 버립니다.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90488" y="411480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0488" y="4114800"/>
            <a:ext cx="265176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관문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44805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인입 품질 판정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55080" y="4809744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걸러 낸 뒤 남은 내용이 거의 없으면 성공한 척하지 않고 그 자리에서 오류로 알립니다.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34272" y="4114800"/>
            <a:ext cx="265176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34272" y="4114800"/>
            <a:ext cx="2651760" cy="731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9198864" y="426110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관문 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198864" y="448056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숨은 지시문 차단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98864" y="4809744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문서에 심긴 조종 문장(문서 한 줄이 AI 행동을 바꾸는 공격)을 차단합니다.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쓸수록 똑똑해집니다 — 단, 검증을 통과해야만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어댑터와 고객 선택 모델(BYOM)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264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어댑터 — 우리 현장의 문답으로 전문가를 길러냅니다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1773936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팀은 「베이스 모델 하나 + 분야별 전문가 어댑터」 구조입니다. 주제(취약점·장비운영·사내규정·위협대응)별로 승인된 문답이 300건을 넘으면 그 분야 어댑터를 학습합니다.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문답 수집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377440" y="2578608"/>
            <a:ext cx="128016" cy="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23744" y="233172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승인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69664" y="2578608"/>
            <a:ext cx="128016" cy="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15968" y="233172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300건 도달 시 학습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61888" y="2578608"/>
            <a:ext cx="128016" cy="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08192" y="233172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미채택 상태로 등록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54112" y="2578608"/>
            <a:ext cx="128016" cy="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900416" y="233172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F6F8FC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게이트 · A/B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546336" y="2578608"/>
            <a:ext cx="128016" cy="0"/>
          </a:xfrm>
          <a:prstGeom prst="line">
            <a:avLst/>
          </a:prstGeom>
          <a:noFill/>
          <a:ln w="19050">
            <a:solidFill>
              <a:srgbClr val="8FA4C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92640" y="2331720"/>
            <a:ext cx="1627632" cy="502920"/>
          </a:xfrm>
          <a:prstGeom prst="roundRect">
            <a:avLst>
              <a:gd name="adj" fmla="val 10909"/>
            </a:avLst>
          </a:prstGeom>
          <a:solidFill>
            <a:srgbClr val="F1FAF5"/>
          </a:solidFill>
          <a:ln w="19050">
            <a:solidFill>
              <a:srgbClr val="187A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9216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채택해야 반영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315468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9050">
            <a:solidFill>
              <a:srgbClr val="245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246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≠ 채택 — 정직한 학습 거버넌스.  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학습된 어댑터는 「미채택」 상태로 등록될 뿐, 품질 시험과 전·후 비교를 통과해 사람이 채택해야만 실제 답변에 실립니다.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1호 어댑터는 품질 미달로 불채택 처리했습니다 — 학습했다는 이유만으로 반영하지 않습니다. 시험·배포 계정의 대화는 학습 재료에서 자동 제외됩니다.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279392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389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두뇌는 고객이 고릅니다 (BYOM)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4718304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라이선스·성능·한국어 취향을 고객이 정하면, 그 모델을 서버 환경에 맞추는 일은 제품이 자동으로 합니다 — 파일 속 정보를 읽어 모델의 버릇을 알아보고 조정합니다.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직후 4가지를 즉석 시험합니다: 답이 나오는지 · 한국어로 답하는지 · 지시를 따르는지 · 위험한 요청을 거절하는지.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17920" y="4279392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3891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말하면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46520" y="4718304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신입사원(어댑터)을 뽑아 교육을 시켰다고 바로 고객 응대를 맡기지 않는 것과 같습니다.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시험을 통과하고, 기존 직원보다 잘한다는 것이 확인되고, 팀장이 승인해야 실전에 투입됩니다. GIJO AS는 AI에게도 이 절차를 그대로 적용합니다.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어떻게 안전한가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AI를 우리가 먼저 공격해 보고, 나가는 길은 통째로 잠급니다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73152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99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레드팀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6550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인젝션·탈옥 등 공격 문장으로 우리 AI를 정기적으로 흔들어 보고, 뚫린 곳을 기록합니다.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67128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67128"/>
            <a:ext cx="64008" cy="73152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40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 가드레일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4963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사용 중에도 같은 공격 시도를 실시간으로 표시·차단합니다.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008376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008376"/>
            <a:ext cx="64008" cy="73152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0815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가림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337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대화창에 붙여 넣은 주민등록번호·카드번호는 AI에 닿기 전에 가려집니다. 업무에 필요한 IP·호스트명은 건드리지 않습니다.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49624"/>
            <a:ext cx="64008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49624"/>
            <a:ext cx="64008" cy="73152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92277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쓰기는 결재판 승인 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41788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데이터를 바꾸는 작업(담당자 배정·상태 변경 등)은 반드시 사람이 승인해야 실행됩니다.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754880"/>
            <a:ext cx="6400800" cy="1325880"/>
          </a:xfrm>
          <a:prstGeom prst="roundRect">
            <a:avLst>
              <a:gd name="adj" fmla="val 4138"/>
            </a:avLst>
          </a:prstGeom>
          <a:solidFill>
            <a:srgbClr val="F1FAF5"/>
          </a:solidFill>
          <a:ln w="22860">
            <a:solidFill>
              <a:srgbClr val="18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463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에어갭 봉인 — 「안 나갑니다」를 켜서 증명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5175504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봉인을 켜면 인터넷으로 여는 통로가 한 관문에서 통째로 막힙니다. 기본은 거부 — 확실히 사내로 확인된 곳만 통과시킵니다. 막힌 시도는 작업 기록에 남고, 대화창에 「에어갭 상태」라고 물으면 막힌 통로와 대체 수단을 그 자리에서 보여줍니다.</a:t>
            </a:r>
            <a:endParaRPr lang="en-US" sz="1100" dirty="0"/>
          </a:p>
        </p:txBody>
      </p:sp>
      <p:pic>
        <p:nvPicPr>
          <p:cNvPr id="23" name="Image 0" descr="D:\Connect AI\screenshots\deck\15-레드팀-가드레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325880"/>
            <a:ext cx="4434840" cy="29718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223760" y="4334256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레드팀·가드레일 — 우리 AI를 우리가 먼저 흔들어 보고, 뚫린 곳을 기록합니다 (실제 운영 화면)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223760" y="4754880"/>
            <a:ext cx="4434840" cy="1325880"/>
          </a:xfrm>
          <a:prstGeom prst="roundRect">
            <a:avLst>
              <a:gd name="adj" fmla="val 4138"/>
            </a:avLst>
          </a:prstGeom>
          <a:solidFill>
            <a:srgbClr val="FDF7EC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52360" y="4864608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 밝힙니다 —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학습·모델 병합처럼 외부 프로그램을 실행하는 일부 기능은 이 관문 밖에서 돌아, 봉인 시 오프라인으로 눌러 두지만 완전한 차단은 아닙니다. 기밀 배치에서는 사전 반입 자료로만 쓰시기를 권합니다.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3중 방어와, 밖으로 나가는 통로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보안성 검토에서 가장 많이 확인하시는 두 대목입니다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프롬프트 주입을 세 지점에서 막습니다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00200"/>
            <a:ext cx="64008" cy="8412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73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입구 — 가드레일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6733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차단(켜짐)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19476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입력한 말에 섞인 공격 시도를 실시간 탐지·차단·기록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532888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532888"/>
            <a:ext cx="64008" cy="8412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 — 문서 살균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6060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880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받은 문서에 숨겨진 지시문. 벤더 매뉴얼·협력사 산출물에 심어 둔 명령이 우리 AI를 조종하는 것을 막음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465576"/>
            <a:ext cx="64008" cy="84124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5387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출구 — 자격증명 가림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5387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8130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비밀번호·API 키가 리포트 파일이나 외부로 나가는 것을 막음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44398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담당자가 보는 것은 가리지 않습니다 — 되돌릴 수 없는 경로(파일 저장·외부 전송)에서만 가립니다.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12344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밖과 이어지는 통로 — 전부 기본 꺼짐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기본값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클라우드 AI 보조 질의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7A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SIEM 전달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7A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메일(SMTP)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꺼짐 (사내 서버 지정 시)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위협 인텔 피드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87A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법령 조회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꺼짐 (선택 — 끄면 완전 폐쇄)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MCP 외부 도구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꺼짐 · 실연결은 준비 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6263640" y="45262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1FAF5"/>
          </a:solidFill>
          <a:ln w="19050">
            <a:solidFill>
              <a:srgbClr val="187A4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92240" y="4626864"/>
            <a:ext cx="4937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클라우드 AI를 켜더라도 자산명·사설 IP·담당자 이름·자격증명이 섞인 질문은 자동 차단됩니다. 사내 문서 내용은 애초에 실어 보내지 않으며, 나간 사실은 전부 기록됩니다.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553212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FDF7EC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5632704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에어갭 봉인을 켜면 위 통로가 한 관문에서 통째로 막힙니다(기본 거부).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우리 데이터를 만지는 규칙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「AI가 멋대로 지우거나 바꾸면?」 — 답은 기능이 아니라 구조입니다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69494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45336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910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4447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도구를 통해서만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70432" y="1700784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데이터베이스를 직접 만지지 못합니다. 정해진 도구 목록을 통해서만 조회·변경합니다.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157984"/>
            <a:ext cx="69494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2331720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7744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2311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조회와 변경을 나눔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70432" y="2487168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조회는 바로 실행되지만, 변경(등록·수정·삭제)은 실행되지 않습니다.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944368"/>
            <a:ext cx="69494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118104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6382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70432" y="3017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결재판 승인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70432" y="3273552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변경이 필요하면 AI가 값을 채운 확인창을 띄웁니다. 사람이 그 값을 보고 승인해야 실행됩니다.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730752"/>
            <a:ext cx="69494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04488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95020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70432" y="38039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되돌리기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70432" y="4059936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실행된 변경은 한 번의 클릭으로 되돌릴 수 있습니다.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4517136"/>
            <a:ext cx="69494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690872"/>
            <a:ext cx="347472" cy="347472"/>
          </a:xfrm>
          <a:prstGeom prst="ellipse">
            <a:avLst/>
          </a:prstGeom>
          <a:solidFill>
            <a:srgbClr val="0F1B3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7365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459028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기록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70432" y="4846320"/>
            <a:ext cx="6126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누가·언제·무엇을 했는지 작업 기록에 남습니다. 끌 수 없습니다.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0" y="1371600"/>
            <a:ext cx="3886200" cy="1920240"/>
          </a:xfrm>
          <a:prstGeom prst="roundRect">
            <a:avLst>
              <a:gd name="adj" fmla="val 2857"/>
            </a:avLst>
          </a:prstGeom>
          <a:solidFill>
            <a:srgbClr val="F1FAF5"/>
          </a:solidFill>
          <a:ln w="25400">
            <a:solidFill>
              <a:srgbClr val="187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53619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무인화가 아니라</a:t>
            </a:r>
            <a:endParaRPr lang="en-US" sz="17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「승인 기반 반자동」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955280" y="22860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지시만 듣고 데이터를 바꾸는 일은 구조적으로 없습니다. AI는 사람이 할 일을 다 차려 놓고 마지막 결정만 사람에게 넘깁니다 — 판단의 책임은 계속 담당자에게 있습니다.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3429000"/>
            <a:ext cx="3886200" cy="1828800"/>
          </a:xfrm>
          <a:prstGeom prst="roundRect">
            <a:avLst>
              <a:gd name="adj" fmla="val 3000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354787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쉽게 말하면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955280" y="3858768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AI를 「일을 대신 해 주는 직원」으로 두되, 결재 도장은 사람이 찍습니다.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직원이 서류를 다 만들어 와도 도장 없이는 아무 일도 일어나지 않는 것과 같습니다.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한눈에 (1/2)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전부 현재 동작하는 기능입니다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210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팀 + 복합 지시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8종 역할 분담 에이전트(팀장·스캔·침투테스트·분석·SBOM·위협정보·리포트·모델진화). 한 문장으로 여러 단계를 순서대로 자동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위협 ↔ 자산 자동 매칭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위협 정보의 대상을 자산 식별자와 자동 대조 — 눈 대조 작업 소멸, 무관한 위협은 오탐 없이 제외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 영향도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자산을 업무 서비스로 묶어 위험을 합산 — 「지금 위험한 서비스」를 임원에게 바로 설명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취약점 생애주기 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Nessus 결과 그대로 업로드 → 중복 제거(실측 1,171행→282건) → KEV·EPSS 우선순위 → 담당자·기한(SLA) → 재스캔 검증 → 번다운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지형도 (지도)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목록 대신 지도로 — 칸=대상, 색=위험. 공격 경로(진입→거점→인접)를 화살표로 겹쳐 「어디로 들어와 어디까지 번지나」가 한눈에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관제 (보안 분석)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취약점 스캐너·보안 로그·운영리포트·설정 점검 4갈래를 한 자리에. 같은 자산이 여러 곳에서 걸리면 짚어 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보안제품 관리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종류별 등록, 매뉴얼 일괄 업로드(자동 분류) → AI가 학습해 답변에 활용, 점검 일정·승인 거버넌스 연결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한눈에 (2/2)</a:t>
            </a:r>
            <a:endParaRPr lang="en-US" sz="2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1556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210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AI-BOM · SBOM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자산 5영역(모델·데이터·프롬프트·도구·인프라) 명세 + 국제 표준(CycloneDX·SPDX) 자재명세서를 버튼 한 번에 — 규제·실사에 그대로 제출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하드닝 점검 · 원격 정기점검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보안장비 설정을 국내 KISA U-시리즈 + 국제 CIS 기준으로 점검. SSH 원격 대상 등록 → 스케줄 자동 점검·악화 알림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KPI + 임원 보고서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번다운·SLA 준수율·KEV 추세를 한 화면에. 임원 보고서(워드)를 AI가 작성해 메일 발송. 「AI가 아낀 시간」도 보수적으로 환산해 자동 포함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로그 분석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이벤트 유형(브루트포스·포트스캔 등)에 KISA 기준 대응 절차가 붙고, 로그에 등장한 미등록 내부 IP를 체크 한 번에 자산 등록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 넘기기 (인수인계) 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4단계 마법사로 지식을 받아 적고, AI가 검증 질문으로 실제 물어봐 그 문서가 근거로 쓰이는지 판정. 이관 리포트는 감사 증적 — 경쟁 제품에 없는 차별점 1호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 대조 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「이거 해도 돼?」에 사내 규정 원문 발췌와 함께 판정. 근거가 없으면 판정하지 않음 — 경쟁 제품에 없는 차별점 2호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어디서든 지시 + 감사 기록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어느 화면에서든 작업 콘솔을 열어 지시(현재 화면 맥락 자동 전달). 모든 실행·승인·차단·변경이 감사 로그 단일 타임라인에 남음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MCP 연동 (준비 중)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도구 연결을 위한 승인 체계·에이전트별 허용 매트릭스·감사 구조는 완성. 다만 실제 외부 연결은 아직 동작하지 않습니다(연결 정의만 저장) — 로드맵 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목록이 아니라 지도로 — 연결 관계를 한눈에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= 대상 · 색 = 위험 · 클릭 한 번 = 상세. 지시는 전부 대화창으로</a:t>
            </a:r>
            <a:endParaRPr lang="en-US" sz="1250" dirty="0"/>
          </a:p>
        </p:txBody>
      </p:sp>
      <p:pic>
        <p:nvPicPr>
          <p:cNvPr id="4" name="Image 0" descr="D:\Connect AI\screenshots\deck\11-취약자산관리-생애주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611880" cy="2423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385876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취약점 — 오늘 무엇부터 고칠지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악용(KEV)·악용 확률(EPSS)로 줄 세우기</a:t>
            </a:r>
            <a:endParaRPr lang="en-US" sz="1000" dirty="0"/>
          </a:p>
        </p:txBody>
      </p:sp>
      <p:pic>
        <p:nvPicPr>
          <p:cNvPr id="6" name="Image 1" descr="D:\Connect AI\screenshots\deck\32-지도-자산-공격경로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371600"/>
            <a:ext cx="3611880" cy="2423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06824" y="385876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지형도 — 타일 크기=미조치 취약점 수,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색=위험 등급, 화살표=공격 경로</a:t>
            </a:r>
            <a:endParaRPr lang="en-US" sz="1000" dirty="0"/>
          </a:p>
        </p:txBody>
      </p:sp>
      <p:pic>
        <p:nvPicPr>
          <p:cNvPr id="8" name="Image 2" descr="D:\Connect AI\screenshots\deck\33-지도-관제-히트맵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728" y="1371600"/>
            <a:ext cx="3611880" cy="2423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10728" y="385876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관제 히트맵 — 같은 자산이 여러 소스에</a:t>
            </a:r>
            <a:endParaRPr lang="en-US" sz="10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걸리면 색과 테두리로 즉시 드러남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02920" y="4617720"/>
            <a:ext cx="11155680" cy="1325880"/>
          </a:xfrm>
          <a:prstGeom prst="roundRect">
            <a:avLst>
              <a:gd name="adj" fmla="val 4138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77240" y="4736592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세 곳에서 같은 말을 했습니다 — 「설명이 많다, 연결 관계를 눈으로 보고 싶다」.
</a:t>
            </a:r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목록은 위에서부터 읽어야 하지만 지도는 위험이 몰린 곳이 한눈에 보입니다. 자산·관제·취약점 세 화면이 같은 지도 문법을 씁니다.
</a:t>
            </a:r>
            <a:pPr indent="0" marL="0">
              <a:lnSpc>
                <a:spcPts val="1900"/>
              </a:lnSpc>
              <a:buNone/>
            </a:pPr>
            <a:r>
              <a:rPr lang="en-US" sz="1200" i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화면은 실제 데이터가 들어 있는 운영 화면이며, 꾸며 만든 그림이 아닙니다.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기술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폐쇄망에서 완결되는 기술로 골랐습니다 — 외부 클라우드 서비스에 기대는 부품이 없습니다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17520"/>
                <a:gridCol w="676656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 — 쉽게 말하면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담당자 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Electron · TypeScript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REST + WebSocket 실시간 채널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윈도우·맥에 설치되는 데스크톱 프로그램. 화면과 입력만 담당하고 데이터는 갖지 않습니다. 변화가 생기면 새로고침 없이 전 담당자 화면이 즉시 갱신됩니다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Node.js · Express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SQLite (내장 DB)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JWT 인증 · AES-256-GCM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제품의 두뇌 본부. 별도 DB 서버 설치가 필요 없어 폐쇄망 구축이 단순해집니다. 접속 권한은 자동 만료·갱신되고, API 키·메일 비밀번호는 군용급 방식으로 암호화 저장합니다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엔진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llama.cpp (로컬 LLM 서빙)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LanceDB + BGE-M3 임베딩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QLoRA 학습 · ModelScan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개방형 AI 모델을 사내 GPU에서 돌리는 엔진. 여러 모델을 GPU 메모리 예산에 맞춰 자동 교대합니다. 문서를 의미 단위로 저장·검색하고, AI 모델 파일은 실행 없이 정적 검사합니다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문서·표준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CycloneDX · SPDX-2.3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docx 생성 + SMTP 메일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PDF·HWPX 텍스트 추출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국제 표준 자재명세서(SBOM)를 규제·실사에 그대로 제출 가능한 형식으로 만듭니다. 임원 보고서는 워드로 만들어 메일 발송하고, 한글 파일 포함 매뉴얼에서 글자를 안전하게 꺼냅니다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연동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MCP (Model Context Protocol)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AI를 외부 도구에 연결하는 업계 표준 — 기본 꺼짐·관리자 승인제로 온프렘 원칙을 지키며 확장합니다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532120"/>
            <a:ext cx="11155680" cy="621792"/>
          </a:xfrm>
          <a:prstGeom prst="roundRect">
            <a:avLst>
              <a:gd name="adj" fmla="val 8824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777240" y="5632704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문장으로 — </a:t>
            </a:r>
            <a:pPr indent="0" marL="0"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「설치형 프로그램 + 서버 한 대 + 사내 GPU의 AI」 조합이고, 어느 부품도 인터넷 없이는 안 되는 것이 없습니다. 그래서 폐쇄망에 통째로 들어갑니다.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제품답게, 자기 자신부터 단단합니다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보안 하드닝과 품질 관리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6766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80467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3990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계정 보안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16550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업계 표준 인증(자동 만료·갱신 토큰), 로그인 무차별 대입 방어, 비밀번호 정책, 계정당 동시 세션 1개 강제. 폐쇄망에서도 동작하는 2차 인증(TOTP) 지원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6766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64008" cy="80467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3134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비밀정보 암호화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5694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서비스 비밀번호·API 키는 전부 암호화된 상태로만 저장 — 평문 저장이 없습니다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6766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54680"/>
            <a:ext cx="64008" cy="80467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27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기본값 강제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" y="34838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환경에서 보안 설정을 기본값 그대로 두면 시스템이 아예 기동을 거부합니다. 「설정을 깜빡한 채 조용히 운영되는」 사고를 구조적으로 차단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67665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069080"/>
            <a:ext cx="64008" cy="80467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4142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추적 · 백업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439826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실행·승인·차단·변경이 감사 로그에 남고, 자동 백업과 복원 검증 절차를 갖췄습니다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1325880"/>
            <a:ext cx="4069080" cy="3246120"/>
          </a:xfrm>
          <a:prstGeom prst="roundRect">
            <a:avLst>
              <a:gd name="adj" fmla="val 1690"/>
            </a:avLst>
          </a:prstGeom>
          <a:solidFill>
            <a:srgbClr val="EAF1FF"/>
          </a:solidFill>
          <a:ln w="22860">
            <a:solidFill>
              <a:srgbClr val="245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품질은 숫자로 지킵니다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81812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26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2,748개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품질 시험을 통과한 버전만 배포합니다. 실제 구동 환경에서 처음부터 끝까지 검증합니다.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게이트 3축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답변 품질을 업무 정확도·안전 경계·한국어 세 축으로 재고, 하나라도 나빠지면 그 변경을 채택하지 않습니다.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새벽 자동 회귀 측정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147개 실전 상황을 재연해 품질 하락을 그날 잡아냅니다.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02920" y="5074920"/>
            <a:ext cx="11155680" cy="1005840"/>
          </a:xfrm>
          <a:prstGeom prst="roundRect">
            <a:avLst>
              <a:gd name="adj" fmla="val 5455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84648"/>
            <a:ext cx="10607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행동 통제 — 자동화에 사람의 최종 결정권을 남깁니다.  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데이터를 바꾸는 작업은 결재판 승인이 필수이고, 프롬프트 공격은 가드레일이 차단하며, 붙여넣은 개인정보는 자동으로 가려집니다.
</a:t>
            </a:r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실행·승인·차단·변경은 「작업 기록」 단일 타임라인에 남아, 감사 대응 자료로 그대로 쓰입니다.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공공기관 도입 — N2SF 대응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5월 1일 시행 · 일률적 망분리 의무가 등급별 차등 통제로 대체되었습니다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1556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309360"/>
                <a:gridCol w="3108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 여기 들어가나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상용 AI 서비스로 정보 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기밀 (C)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비밀·대외비, 안보·국방·외교, 국민 생명·안전, 수사·재판 관련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민감 (S)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감사·감독·인사, 개인정보, 법인 영업비밀 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0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공개 (O)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위에 해당하지 않는 나머지 전부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429000"/>
            <a:ext cx="11155680" cy="1234440"/>
          </a:xfrm>
          <a:prstGeom prst="roundRect">
            <a:avLst>
              <a:gd name="adj" fmla="val 4444"/>
            </a:avLst>
          </a:prstGeom>
          <a:solidFill>
            <a:srgbClr val="F1FAF5"/>
          </a:solidFill>
          <a:ln w="25400">
            <a:solidFill>
              <a:srgbClr val="187A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3547872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여기가 GIJO AS의 자리입니다.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기밀·민감 등급에서는 상용 AI 서비스로 정보를 처리하는 것이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금지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그 구간에서 AI를 쓰려면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안에서 도는 AI 외에는 방법이 없습니다.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기본 배치 권장은 「민감(S) 등급 도메인 내부, 인터넷 비연결」이며, 제품이 외부 통신을 요구하지 않으므로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기밀(C) 등급 도메인에도 같은 구성으로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들어갈 수 있습니다.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4846320"/>
            <a:ext cx="1115568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956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대에 여러 등급을 함께 담아야 할 때 — 자료 단위 등급 라벨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524865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예산·인력·장비 사정으로 등급별 시스템을 따로 두기 어려운 기관이 많습니다. 그래서 자료 한 건 단위로 등급을 매기고, 등급이 낮은 담당자에게는 검색 자체가 되지 않게 했습니다 — 한 서버 안에서도 등급별 접근 경계를 지킬 수 있습니다.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589788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N2SF는 법률·시행령이 아니라 국가정보원장이 발령하는 지침(행정규칙)입니다. 법 시행과 기관별 전환 완료는 다른 문제이므로, 도입 검토 시 기관의 전환 일정을 먼저 확인하시기를 권합니다.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 라인업과 요구 사양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라인업 모두 소프트웨어와 기능이 완전히 동일합니다 — 기능을 잘라 파는 방식이 아닙니다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5440680" cy="9144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설치에 필요한 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서버 1대 + 담당자 PC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NVIDIA GPU 12GB 이상(24GB 권장) · Windows(WSL2) 또는 Linux · 인터넷 불필요. 담당자 PC는 설치본을 더블클릭하고 서버 주소만 입력하면 끝입니다.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9050">
            <a:solidFill>
              <a:srgbClr val="C9D8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25880"/>
            <a:ext cx="5440680" cy="9144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업그레이드 경로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9019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0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GPU만 바꾸면 설정 세 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240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팀이 커지면 GPU를 교체하고 설정 세 줄만 바꾸면 상위 구성으로 전환됩니다 — 재설치도, 데이터 이관도 필요 없습니다.</a:t>
            </a:r>
            <a:endParaRPr lang="en-US" sz="11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00400"/>
          <a:ext cx="11155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2004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 Lite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 Standard  (권장)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 Pro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 GPU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12GB (3060 12G·4070)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24GB (3090·4090)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30GB+ (5090·A6000급)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구성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LLM 1개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LLM 2개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LLM 3개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조직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1인 담당자 · 소기업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2~3인 팀 · 중견기업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3인 이상·관제 · 대기업/공공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역할 분리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모델이 겸임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지휘·전문가 분리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지휘·전문가·리포트 3분업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차이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87A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— 전 기능 동일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87A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87A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AF5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2920" y="5742432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1FAF5"/>
          </a:solidFill>
          <a:ln w="15240">
            <a:solidFill>
              <a:srgbClr val="187A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8155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Lite도 기능이 빠지지 않습니다 — 상위 라인업은 「더 빠르고 전문화된 AI 팀」입니다.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172200" y="5742432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FDF7EC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5815584"/>
            <a:ext cx="5212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NVIDIA GPU 필수 — Mac·AMD·CPU 전용 서버는 지원하지 않습니다.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측정 숫자와 정직한 성숙도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제품은 「좋습니다」라는 말로 팔 수 없습니다 — 전부 재현 가능한 자체 측정 결과입니다</a:t>
            </a:r>
            <a:endParaRPr lang="en-US" sz="12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155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80467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쟀나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30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보안담당자 실전 질문 150상황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최근 회차 141/150 — 남은 불편은 전부 「응답 30초 초과」 한 종류이며 오답은 0건. 매일 밤 자동으로 다시 측정해 품질이 떨어지면 그날 잡아냅니다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주입 공격 14종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 경로 뚫림 0건 — 입구에서 13건 차단, 모델이 1건 버팀. 방어 코드를 떼어 낸 모델 자체도 71점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게이트 3축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99문항 전부 통과. 코드를 바꿀 때마다 다시 돌리고, 하나라도 나빠지면 그 변경을 채택하지 않습니다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AI가 아낀 시간 (보수 추정)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최근 30일 자동 처리 102건 ≈ 사람 45~56시간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B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품질 시험 · QA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05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2,748개 통과 · 화면·API·회귀 14계층 전 통과 · 백업은 「복구되는지」까지 실제로 열어서 검증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88900" marR="88900" marT="88900" marB="88900" anchor="ctr">
                    <a:lnL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9204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FDF7EC"/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992624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제품의 현재 성숙도 — 「파일럿 투입 가능, GA 미판정」
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코드로 닫을 수 있는 필수 항목(자가 진단·백업복원·저장 암호화·감사 기록·이벤트 생애주기·알림·SIEM 전달)은 7개 전부 실측으로 통과했습니다. 남은 것은 코드로 닫을 수 없는 관문 넷입니다 —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외부 업체 모의해킹 ② 번들 AI 모델 라이선스 법무 검토 ③ 실사용 4주 검증 ④ 인증 취득.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지금 정직한 표현은 「파일럿에 투입할 수 있다」이며, 「GA(정식 출시 판정)」라고 말하지 않습니다.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솔직하게 — 지금 되는 것과 앞으로 되는 것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제품은 신뢰가 전부이기 때문에 과장하지 않습니다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2377440"/>
          </a:xfrm>
          <a:prstGeom prst="roundRect">
            <a:avLst>
              <a:gd name="adj" fmla="val 2308"/>
            </a:avLst>
          </a:prstGeom>
          <a:solidFill>
            <a:srgbClr val="F1FAF5"/>
          </a:solidFill>
          <a:ln w="22860">
            <a:solidFill>
              <a:srgbClr val="187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됩니다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팀 자연어 지시·복합 실행 · 보안팀 인수인계(AI 검증 포함) · 행동 대조(규정 근거 판정) · 위협↔자산↔서비스 자동 상관 · 취약점 생애주기(임포트→우선순위→조치→재스캔 검증→번다운) · 보안 지형도 · 통합 관제 4소스 · 보안제품 관리·매뉴얼 학습 · AI-BOM/SBOM 표준 내보내기 · 하드닝 점검·원격 정기점검 · KPI·임원 보고서 자동화 · 로그 분석 · 감사 로그 · 레드팀·가드레일 · 개인정보 가림 · 에어갭 봉인 · 자료 단위 등급 라벨 · BYOM·모델 합성 · 전문가 어댑터 학습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325880"/>
            <a:ext cx="5440680" cy="2377440"/>
          </a:xfrm>
          <a:prstGeom prst="roundRect">
            <a:avLst>
              <a:gd name="adj" fmla="val 2308"/>
            </a:avLst>
          </a:prstGeom>
          <a:solidFill>
            <a:srgbClr val="FDF7EC"/>
          </a:solidFill>
          <a:ln w="2286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4447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0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로드맵으로 확장됩니다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1847088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MCP 외부 도구 실연결 (승인·감사 체계는 완성)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다크웹·딥웹 위협정보 벤더 실시간 연동 확대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전용 AI 모델 고도화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발견방식별 조치 검증 세분화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티켓 시스템(Jira · ServiceNow) 연동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SIEM · 장비 커넥터 확대</a:t>
            </a: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endParaRPr lang="en-US" sz="10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도입 후 업데이트로 순차 제공됩니다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약한 것도 밝힙니다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297680"/>
            <a:ext cx="362102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4074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멀티클라우드 스캔 제품이 아닙니다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937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AWS·Azure·GCP를 가로지르는 클라우드 스캔은 전문 제품의 영역입니다. GIJO AS는 온프레미스 자산이 주 대상입니다.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6824" y="4297680"/>
            <a:ext cx="362102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9704" y="44074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축 깊이는 전문 벤더가 앞섭니다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9704" y="4937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공격 탐지 정밀도, 모델 포맷 커버리지 등은 그 축의 전문 제품이 더 깊습니다.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10728" y="4297680"/>
            <a:ext cx="3621024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440740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모델은 클라우드 초대형 모델보다 문장력이 낮습니다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93608" y="49377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숫자와 판정은 코드가 결정적으로 내고, 모델은 설명만 맡습니다. NVIDIA GPU가 없는 환경은 지원하지 않습니다.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5870448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경계는 약점이 아니라 설계 선택의 교환입니다 — 「폐쇄망에서, 인원이 부족한 팀이, 여러 축을 하나로」를 위해 클라우드 규모와 단일축 깊이를 일부 포기했습니다.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 파일럿 플랜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데모 다음은 이렇게 진행합니다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62102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3621024" cy="9144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088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설치와 첫 지시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설치는 반나절. 담당자 첫날 30분 온보딩으로 첫 지시를 담당자 손으로 직접 내려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04088" y="3520440"/>
            <a:ext cx="3200400" cy="530352"/>
          </a:xfrm>
          <a:prstGeom prst="roundRect">
            <a:avLst>
              <a:gd name="adj" fmla="val 10345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5661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혼자 다시 켠다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06824" y="1371600"/>
            <a:ext cx="362102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6824" y="1371600"/>
            <a:ext cx="3621024" cy="9144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14" name="Text 12"/>
          <p:cNvSpPr/>
          <p:nvPr/>
        </p:nvSpPr>
        <p:spPr>
          <a:xfrm>
            <a:off x="4507992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2~3주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07992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실데이터와 주간 피드백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07992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스캐너 리포트·규정 문서를 실제로 넣고 씁니다. 오답 지적은 다음 주에 고쳐서 배포합니다.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07992" y="3520440"/>
            <a:ext cx="3200400" cy="530352"/>
          </a:xfrm>
          <a:prstGeom prst="roundRect">
            <a:avLst>
              <a:gd name="adj" fmla="val 10345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5661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3회 이상 사용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10728" y="1371600"/>
            <a:ext cx="3621024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FE4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0728" y="1371600"/>
            <a:ext cx="3621024" cy="91440"/>
          </a:xfrm>
          <a:prstGeom prst="rect">
            <a:avLst/>
          </a:prstGeom>
          <a:solidFill>
            <a:srgbClr val="187A4B"/>
          </a:solidFill>
          <a:ln/>
        </p:spPr>
      </p:sp>
      <p:sp>
        <p:nvSpPr>
          <p:cNvPr id="22" name="Text 20"/>
          <p:cNvSpPr/>
          <p:nvPr/>
        </p:nvSpPr>
        <p:spPr>
          <a:xfrm>
            <a:off x="8311896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11896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11896" y="2377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아낀 시간 리포트와 담당자 소감으로 도입 여부를 판단합니다.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11896" y="3520440"/>
            <a:ext cx="3200400" cy="530352"/>
          </a:xfrm>
          <a:prstGeom prst="roundRect">
            <a:avLst>
              <a:gd name="adj" fmla="val 10345"/>
            </a:avLst>
          </a:prstGeom>
          <a:solidFill>
            <a:srgbClr val="F6F8FC"/>
          </a:solidFill>
          <a:ln w="12700">
            <a:solidFill>
              <a:srgbClr val="C9D8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21624" y="35661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3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기준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21624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7A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이탈 없는 4주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4434840"/>
            <a:ext cx="11155680" cy="914400"/>
          </a:xfrm>
          <a:prstGeom prst="roundRect">
            <a:avLst>
              <a:gd name="adj" fmla="val 6000"/>
            </a:avLst>
          </a:prstGeom>
          <a:solidFill>
            <a:srgbClr val="F1FAF5"/>
          </a:solidFill>
          <a:ln w="25400">
            <a:solidFill>
              <a:srgbClr val="187A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5371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51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없는 평가 파일럿이며, 종료 시 데이터는 서버째 고객 소유입니다.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저희가 가져갈 것이 없습니다 — 반입은 파일 업로드뿐이고 반출 경로가 없기 때문입니다.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02920" y="5577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0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드릴 수 있는 자료 — 4대 시나리오 시연 대본(22~25분) · N2SF 대응 문서(보안성 검토용) · 아키텍처 개요 · GA 판정표(측정값 포함)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38C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417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2377440" cy="45720"/>
          </a:xfrm>
          <a:prstGeom prst="rect">
            <a:avLst/>
          </a:prstGeom>
          <a:solidFill>
            <a:srgbClr val="2456C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D8F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데모면 충분합니다.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FC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귀사의 AI 자산 하나를 등록하고, 채팅으로 지시를 내리고, 경영진 보고서가 메일함에 도착하는 것까지 —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AFC4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자리에서 직접 보여드립니다.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2062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1B2A52"/>
          </a:solidFill>
          <a:ln w="12700">
            <a:solidFill>
              <a:srgbClr val="3553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3159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43159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 데모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화면으로 시연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0520" y="42062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1B2A52"/>
          </a:solidFill>
          <a:ln w="12700">
            <a:solidFill>
              <a:srgbClr val="355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43159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43159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진단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34340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GPU·망 구성 확인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4206240"/>
            <a:ext cx="3017520" cy="1051560"/>
          </a:xfrm>
          <a:prstGeom prst="roundRect">
            <a:avLst>
              <a:gd name="adj" fmla="val 5217"/>
            </a:avLst>
          </a:prstGeom>
          <a:solidFill>
            <a:srgbClr val="1B2A52"/>
          </a:solidFill>
          <a:ln w="12700">
            <a:solidFill>
              <a:srgbClr val="3553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43159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6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92440" y="43159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설치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3524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8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귀사 데이터로 검증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8680" y="5715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GIJO AS · GIJO Technology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60624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 및 도입 문의: 영업 담당자에게 연락 주십시오.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GIJO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GIJO AS 제품소개</dc:title>
  <dc:subject>온프레미스 AI 보안 운영 플랫폼</dc:subject>
  <dc:creator>GIJO Technology</dc:creator>
  <cp:lastModifiedBy>GIJO Technology</cp:lastModifiedBy>
  <cp:revision>1</cp:revision>
  <dcterms:created xsi:type="dcterms:W3CDTF">2026-08-08T17:53:43Z</dcterms:created>
  <dcterms:modified xsi:type="dcterms:W3CDTF">2026-08-08T17:53:43Z</dcterms:modified>
</cp:coreProperties>
</file>