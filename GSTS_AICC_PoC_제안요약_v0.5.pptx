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6E5C"/>
                </a:solidFill>
                <a:latin typeface="맑은 고딕"/>
                <a:ea typeface="맑은 고딕"/>
              </a:rPr>
              <a:t>제안요약 · GS텔레서비스 귀중 · 내부 검토용 초안 v0.5 (2026-08-09 제품 문서 대조 갱신)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8242E"/>
                </a:solidFill>
                <a:latin typeface="맑은 고딕"/>
                <a:ea typeface="맑은 고딕"/>
              </a:rPr>
              <a:t>근거 없이는 답하지 않는 AI 데이터 HUB</a:t>
            </a:r>
          </a:p>
          <a:p>
            <a:pPr algn="l"/>
            <a:r>
              <a:rPr sz="3200" b="1">
                <a:solidFill>
                  <a:srgbClr val="18242E"/>
                </a:solidFill>
                <a:latin typeface="맑은 고딕"/>
                <a:ea typeface="맑은 고딕"/>
              </a:rPr>
              <a:t>완전 온프렘 로컬 LLM 근거답변 검증 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A6B77"/>
                </a:solidFill>
                <a:latin typeface="맑은 고딕"/>
                <a:ea typeface="맑은 고딕"/>
              </a:rPr>
              <a:t>AICC 지식 구조화 기반 AI 데이터 HUB 및 정합성 검증 PoC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A6B77"/>
                </a:solidFill>
                <a:latin typeface="맑은 고딕"/>
                <a:ea typeface="맑은 고딕"/>
              </a:rPr>
              <a:t>사업기간 </a:t>
            </a:r>
            <a:r>
              <a:rPr sz="1150" b="1">
                <a:solidFill>
                  <a:srgbClr val="18242E"/>
                </a:solidFill>
                <a:latin typeface="맑은 고딕"/>
                <a:ea typeface="맑은 고딕"/>
              </a:rPr>
              <a:t>12주</a:t>
            </a:r>
            <a:r>
              <a:rPr sz="1150" b="0">
                <a:solidFill>
                  <a:srgbClr val="5A6B77"/>
                </a:solidFill>
                <a:latin typeface="맑은 고딕"/>
                <a:ea typeface="맑은 고딕"/>
              </a:rPr>
              <a:t>      대상 </a:t>
            </a:r>
            <a:r>
              <a:rPr sz="1150" b="1">
                <a:solidFill>
                  <a:srgbClr val="18242E"/>
                </a:solidFill>
                <a:latin typeface="맑은 고딕"/>
                <a:ea typeface="맑은 고딕"/>
              </a:rPr>
              <a:t>취소·반품·교환 SR 상담</a:t>
            </a:r>
            <a:r>
              <a:rPr sz="1150" b="0">
                <a:solidFill>
                  <a:srgbClr val="5A6B77"/>
                </a:solidFill>
                <a:latin typeface="맑은 고딕"/>
                <a:ea typeface="맑은 고딕"/>
              </a:rPr>
              <a:t>      구동 </a:t>
            </a:r>
            <a:r>
              <a:rPr sz="1150" b="1">
                <a:solidFill>
                  <a:srgbClr val="18242E"/>
                </a:solidFill>
                <a:latin typeface="맑은 고딕"/>
                <a:ea typeface="맑은 고딕"/>
              </a:rPr>
              <a:t>발주사 내부 GPU · 데이터 외부 반출 0</a:t>
            </a:r>
            <a:r>
              <a:rPr sz="1150" b="0">
                <a:solidFill>
                  <a:srgbClr val="5A6B77"/>
                </a:solidFill>
                <a:latin typeface="맑은 고딕"/>
                <a:ea typeface="맑은 고딕"/>
              </a:rPr>
              <a:t>      환경 </a:t>
            </a:r>
            <a:r>
              <a:rPr sz="1150" b="1">
                <a:solidFill>
                  <a:srgbClr val="18242E"/>
                </a:solidFill>
                <a:latin typeface="맑은 고딕"/>
                <a:ea typeface="맑은 고딕"/>
              </a:rPr>
              <a:t>읽기 전용 격리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943600"/>
            <a:ext cx="10515600" cy="54864"/>
          </a:xfrm>
          <a:prstGeom prst="rect">
            <a:avLst/>
          </a:prstGeom>
          <a:solidFill>
            <a:srgbClr val="0E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77"/>
                </a:solidFill>
                <a:latin typeface="맑은 고딕"/>
                <a:ea typeface="맑은 고딕"/>
              </a:rPr>
              <a:t>제안사 (확정 후 기재)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6E5C"/>
                </a:solidFill>
                <a:latin typeface="맑은 고딕"/>
                <a:ea typeface="맑은 고딕"/>
              </a:rPr>
              <a:t>RFP 이해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8242E"/>
                </a:solidFill>
                <a:latin typeface="맑은 고딕"/>
                <a:ea typeface="맑은 고딕"/>
              </a:rPr>
              <a:t>이 사업의 본질 — “챗봇”이 아니라 “증명”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77"/>
                </a:solidFill>
                <a:latin typeface="맑은 고딕"/>
                <a:ea typeface="맑은 고딕"/>
              </a:rPr>
              <a:t>모델 이름이나 데모가 아니라, 동일 데이터·비공개 검증셋 300건으로 결과를 증명해야 하는 사업으로 이해했습니다.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GS텔레서비스 AICC PoC 제안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728216"/>
            <a:ext cx="3282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6E5C"/>
                </a:solidFill>
                <a:latin typeface="맑은 고딕"/>
                <a:ea typeface="맑은 고딕"/>
              </a:rPr>
              <a:t>① 데이터를 AI가 쓸 수 있게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039112"/>
            <a:ext cx="328269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B77"/>
                </a:solidFill>
                <a:latin typeface="맑은 고딕"/>
                <a:ea typeface="맑은 고딕"/>
              </a:rPr>
              <a:t>고객·주문·결제·배송·클레임과 업무기준 문서를 식별자로 잇고, 시행일·버전·예외를 붙여 정비합니다. 정비 없는 AI는 과거 기준과 현재 기준을 섞습니다.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60020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28216"/>
            <a:ext cx="3282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6E5C"/>
                </a:solidFill>
                <a:latin typeface="맑은 고딕"/>
                <a:ea typeface="맑은 고딕"/>
              </a:rPr>
              <a:t>② 답변마다 근거·출처·버전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328269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B77"/>
                </a:solidFill>
                <a:latin typeface="맑은 고딕"/>
                <a:ea typeface="맑은 고딕"/>
              </a:rPr>
              <a:t>처리방향과 함께 판단 근거, 출처 문서·구간, 적용 버전을 제시합니다. 정보 부족·기준 충돌이면 추정 대신 보류→상담사 확인→상위 승인.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60020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728216"/>
            <a:ext cx="3282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6E5C"/>
                </a:solidFill>
                <a:latin typeface="맑은 고딕"/>
                <a:ea typeface="맑은 고딕"/>
              </a:rPr>
              <a:t>③ 비공개 검증으로 객관 판정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039112"/>
            <a:ext cx="328269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B77"/>
                </a:solidFill>
                <a:latin typeface="맑은 고딕"/>
                <a:ea typeface="맑은 고딕"/>
              </a:rPr>
              <a:t>정확도 90%·근거일치 95%·중대오답 0건·P95 3초를 발주사 비공개 셋과 그림자 운영으로 검증. 산출물은 개방형 인수.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6052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43400"/>
            <a:ext cx="2697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E6E5C"/>
                </a:solidFill>
                <a:latin typeface="맑은 고딕"/>
                <a:ea typeface="맑은 고딕"/>
              </a:rPr>
              <a:t>90%↑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0060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A6B77"/>
                </a:solidFill>
                <a:latin typeface="맑은 고딕"/>
                <a:ea typeface="맑은 고딕"/>
              </a:rPr>
              <a:t>업무정확도 (비공개 300건)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64992" y="416052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64992" y="4343400"/>
            <a:ext cx="2697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E6E5C"/>
                </a:solidFill>
                <a:latin typeface="맑은 고딕"/>
                <a:ea typeface="맑은 고딕"/>
              </a:rPr>
              <a:t>95%↑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480060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A6B77"/>
                </a:solidFill>
                <a:latin typeface="맑은 고딕"/>
                <a:ea typeface="맑은 고딕"/>
              </a:rPr>
              <a:t>근거일치 · 적정 보류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16052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27064" y="4343400"/>
            <a:ext cx="2697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E6E5C"/>
                </a:solidFill>
                <a:latin typeface="맑은 고딕"/>
                <a:ea typeface="맑은 고딕"/>
              </a:rPr>
              <a:t>0건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7064" y="480060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A6B77"/>
                </a:solidFill>
                <a:latin typeface="맑은 고딕"/>
                <a:ea typeface="맑은 고딕"/>
              </a:rPr>
              <a:t>중대오답 · 보안사고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9136" y="416052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89136" y="4343400"/>
            <a:ext cx="2697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E6E5C"/>
                </a:solidFill>
                <a:latin typeface="맑은 고딕"/>
                <a:ea typeface="맑은 고딕"/>
              </a:rPr>
              <a:t>3.0초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480060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A6B77"/>
                </a:solidFill>
                <a:latin typeface="맑은 고딕"/>
                <a:ea typeface="맑은 고딕"/>
              </a:rPr>
              <a:t>P95 최종응답 (20 동시세션)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6E5C"/>
                </a:solidFill>
                <a:latin typeface="맑은 고딕"/>
                <a:ea typeface="맑은 고딕"/>
              </a:rPr>
              <a:t>제안 요지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8242E"/>
                </a:solidFill>
                <a:latin typeface="맑은 고딕"/>
                <a:ea typeface="맑은 고딕"/>
              </a:rPr>
              <a:t>세 가지 원칙 — 이미 운영 중인 아키텍처입니다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77"/>
                </a:solidFill>
                <a:latin typeface="맑은 고딕"/>
                <a:ea typeface="맑은 고딕"/>
              </a:rPr>
              <a:t>자사 온프렘 AI 플랫폼(보안관제 도메인)에서 매일 가동·야간 자동회귀(147개 고정 상황)로 검증 중인 골격에, 취소·반품·교환 업무 데이터를 얹는 제안입니다.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GS텔레서비스 AICC PoC 제안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728216"/>
            <a:ext cx="3282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6E5C"/>
                </a:solidFill>
                <a:latin typeface="맑은 고딕"/>
                <a:ea typeface="맑은 고딕"/>
              </a:rPr>
              <a:t>근거가 곧 답변이다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039112"/>
            <a:ext cx="328269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B77"/>
                </a:solidFill>
                <a:latin typeface="맑은 고딕"/>
                <a:ea typeface="맑은 고딕"/>
              </a:rPr>
              <a:t>출처·구간·시행일·버전이 답변 구조의 필수 필드 — 근거를 못 찾은 답은 화면에 나가지 못합니다.</a:t>
            </a:r>
          </a:p>
          <a:p>
            <a:pPr algn="l"/>
            <a:r>
              <a:rPr sz="1050" b="0">
                <a:solidFill>
                  <a:srgbClr val="5A6B77"/>
                </a:solidFill>
                <a:latin typeface="맑은 고딕"/>
                <a:ea typeface="맑은 고딕"/>
              </a:rPr>
              <a:t>[FNR-04 · DSR-07]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28216"/>
            <a:ext cx="3282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6E5C"/>
                </a:solidFill>
                <a:latin typeface="맑은 고딕"/>
                <a:ea typeface="맑은 고딕"/>
              </a:rPr>
              <a:t>모르면 멈춘다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328269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B77"/>
                </a:solidFill>
                <a:latin typeface="맑은 고딕"/>
                <a:ea typeface="맑은 고딕"/>
              </a:rPr>
              <a:t>필수 정보 누락·기준 충돌·권한 밖 질문은 부족한 항목을 밝히며 보류. “틀린 확답”보다 “정당한 보류”가 항상 이기는 정책이 중대오답 0건을 만듭니다.</a:t>
            </a:r>
          </a:p>
          <a:p>
            <a:pPr algn="l"/>
            <a:r>
              <a:rPr sz="1050" b="0">
                <a:solidFill>
                  <a:srgbClr val="5A6B77"/>
                </a:solidFill>
                <a:latin typeface="맑은 고딕"/>
                <a:ea typeface="맑은 고딕"/>
              </a:rPr>
              <a:t>[FNR-05 · S-07]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728216"/>
            <a:ext cx="3282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6E5C"/>
                </a:solidFill>
                <a:latin typeface="맑은 고딕"/>
                <a:ea typeface="맑은 고딕"/>
              </a:rPr>
              <a:t>데이터는 집 밖에 안 나간다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039112"/>
            <a:ext cx="328269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B77"/>
                </a:solidFill>
                <a:latin typeface="맑은 고딕"/>
                <a:ea typeface="맑은 고딕"/>
              </a:rPr>
              <a:t>답변·검증·검색·임베딩 전 모델이 발주사 GPU 상주. 학습배제를 계약으로 약속하는 게 아니라 통신 자체가 없어 원천 불가능하게 만듭니다.</a:t>
            </a:r>
          </a:p>
          <a:p>
            <a:pPr algn="l"/>
            <a:r>
              <a:rPr sz="1050" b="0">
                <a:solidFill>
                  <a:srgbClr val="5A6B77"/>
                </a:solidFill>
                <a:latin typeface="맑은 고딕"/>
                <a:ea typeface="맑은 고딕"/>
              </a:rPr>
              <a:t>[AQR-09 · SEC-01]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892040"/>
            <a:ext cx="45720" cy="1051560"/>
          </a:xfrm>
          <a:prstGeom prst="rect">
            <a:avLst/>
          </a:prstGeom>
          <a:solidFill>
            <a:srgbClr val="0E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56048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8242E"/>
                </a:solidFill>
                <a:latin typeface="맑은 고딕"/>
                <a:ea typeface="맑은 고딕"/>
              </a:rPr>
              <a:t>차별점 요약: </a:t>
            </a:r>
            <a:r>
              <a:rPr sz="1150" b="0">
                <a:solidFill>
                  <a:srgbClr val="5A6B77"/>
                </a:solidFill>
                <a:latin typeface="맑은 고딕"/>
                <a:ea typeface="맑은 고딕"/>
              </a:rPr>
              <a:t>모델은 갈아끼우는 엔진이고, 저희가 제안하는 것은 어떤 엔진을 꽂아도 근거 없이는 말 못 하게 만드는 차체입니다 — 특정 모델·수행사 종속이 구조적으로 생기지 않습니다.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6E5C"/>
                </a:solidFill>
                <a:latin typeface="맑은 고딕"/>
                <a:ea typeface="맑은 고딕"/>
              </a:rPr>
              <a:t>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8242E"/>
                </a:solidFill>
                <a:latin typeface="맑은 고딕"/>
                <a:ea typeface="맑은 고딕"/>
              </a:rPr>
              <a:t>5계층 근거답변 구조 — 한 장으로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GS텔레서비스 AICC PoC 제안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2084831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82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>
                <a:solidFill>
                  <a:srgbClr val="18242E"/>
                </a:solidFill>
                <a:latin typeface="맑은 고딕"/>
                <a:ea typeface="맑은 고딕"/>
              </a:rPr>
              <a:t>① 원천 데이터</a:t>
            </a:r>
          </a:p>
          <a:p>
            <a:pPr algn="ct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주문·결제·배송</a:t>
            </a:r>
          </a:p>
          <a:p>
            <a:pPr algn="ct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클레임·상담사례</a:t>
            </a:r>
          </a:p>
          <a:p>
            <a:pPr algn="ct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업무기준 문서</a:t>
            </a:r>
          </a:p>
          <a:p>
            <a:pPr algn="ct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읽기 전용·가명처리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01467" y="2464308"/>
            <a:ext cx="155448" cy="146304"/>
          </a:xfrm>
          <a:prstGeom prst="rightArrow">
            <a:avLst/>
          </a:prstGeom>
          <a:solidFill>
            <a:srgbClr val="18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70632" y="1463040"/>
            <a:ext cx="2084831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82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>
                <a:solidFill>
                  <a:srgbClr val="18242E"/>
                </a:solidFill>
                <a:latin typeface="맑은 고딕"/>
                <a:ea typeface="맑은 고딕"/>
              </a:rPr>
              <a:t>② 정비·연결 HUB</a:t>
            </a:r>
          </a:p>
          <a:p>
            <a:pPr algn="ct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품질 측정·정제 이력</a:t>
            </a:r>
          </a:p>
          <a:p>
            <a:pPr algn="ct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식별자 연결·코드 매핑</a:t>
            </a:r>
          </a:p>
          <a:p>
            <a:pPr algn="ct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시행일·버전 구조화</a:t>
            </a:r>
          </a:p>
          <a:p>
            <a:pPr algn="ct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정비 통과분만 색인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69179" y="2464308"/>
            <a:ext cx="155448" cy="146304"/>
          </a:xfrm>
          <a:prstGeom prst="rightArrow">
            <a:avLst/>
          </a:prstGeom>
          <a:solidFill>
            <a:srgbClr val="18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38344" y="1463040"/>
            <a:ext cx="2084831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82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>
                <a:solidFill>
                  <a:srgbClr val="18242E"/>
                </a:solidFill>
                <a:latin typeface="맑은 고딕"/>
                <a:ea typeface="맑은 고딕"/>
              </a:rPr>
              <a:t>③ 지식층</a:t>
            </a:r>
          </a:p>
          <a:p>
            <a:pPr algn="ct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문서 저장소(버전)</a:t>
            </a:r>
          </a:p>
          <a:p>
            <a:pPr algn="ct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업무규칙 온톨로지</a:t>
            </a:r>
          </a:p>
          <a:p>
            <a:pPr algn="ct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겹검색 색인</a:t>
            </a:r>
          </a:p>
          <a:p>
            <a:pPr algn="ct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유효 버전만 검색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36891" y="2464308"/>
            <a:ext cx="155448" cy="146304"/>
          </a:xfrm>
          <a:prstGeom prst="rightArrow">
            <a:avLst/>
          </a:prstGeom>
          <a:solidFill>
            <a:srgbClr val="18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06056" y="1463040"/>
            <a:ext cx="2084831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82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>
                <a:solidFill>
                  <a:srgbClr val="18242E"/>
                </a:solidFill>
                <a:latin typeface="맑은 고딕"/>
                <a:ea typeface="맑은 고딕"/>
              </a:rPr>
              <a:t>④ 근거답변 엔진</a:t>
            </a:r>
          </a:p>
          <a:p>
            <a:pPr algn="ct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검색·상태 조회</a:t>
            </a:r>
          </a:p>
          <a:p>
            <a:pPr algn="ct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답변 생성(로컬 LLM)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04603" y="2464308"/>
            <a:ext cx="155448" cy="146304"/>
          </a:xfrm>
          <a:prstGeom prst="rightArrow">
            <a:avLst/>
          </a:prstGeom>
          <a:solidFill>
            <a:srgbClr val="18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73768" y="1463040"/>
            <a:ext cx="2084831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82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>
                <a:solidFill>
                  <a:srgbClr val="18242E"/>
                </a:solidFill>
                <a:latin typeface="맑은 고딕"/>
                <a:ea typeface="맑은 고딕"/>
              </a:rPr>
              <a:t>⑤ 상담지원 화면</a:t>
            </a:r>
          </a:p>
          <a:p>
            <a:pPr algn="ct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상황요약·처리방향</a:t>
            </a:r>
          </a:p>
          <a:p>
            <a:pPr algn="ct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근거 원문·버전 열람</a:t>
            </a:r>
          </a:p>
          <a:p>
            <a:pPr algn="ct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채택/수정/보류 기록</a:t>
            </a:r>
          </a:p>
          <a:p>
            <a:pPr algn="ct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AI 제안임을 명시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62088" y="2953512"/>
            <a:ext cx="1572768" cy="502920"/>
          </a:xfrm>
          <a:prstGeom prst="roundRect">
            <a:avLst>
              <a:gd name="adj" fmla="val 8000"/>
            </a:avLst>
          </a:prstGeom>
          <a:solidFill>
            <a:srgbClr val="E3F0EC"/>
          </a:solidFill>
          <a:ln w="17780">
            <a:solidFill>
              <a:srgbClr val="0E6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0E6E5C"/>
                </a:solidFill>
                <a:latin typeface="맑은 고딕"/>
                <a:ea typeface="맑은 고딕"/>
              </a:rPr>
              <a:t>근거 검증 게이트</a:t>
            </a:r>
          </a:p>
          <a:p>
            <a:pPr algn="ctr"/>
            <a:r>
              <a:rPr sz="850" b="0">
                <a:solidFill>
                  <a:srgbClr val="0E6E5C"/>
                </a:solidFill>
                <a:latin typeface="맑은 고딕"/>
                <a:ea typeface="맑은 고딕"/>
              </a:rPr>
              <a:t>문장↔근거 대조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3685032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E6E5C"/>
                </a:solidFill>
                <a:latin typeface="맑은 고딕"/>
                <a:ea typeface="맑은 고딕"/>
              </a:rPr>
              <a:t>통과 → 근거답변+출처</a:t>
            </a:r>
          </a:p>
          <a:p>
            <a:pPr algn="ctr"/>
            <a:r>
              <a:rPr sz="900" b="1">
                <a:solidFill>
                  <a:srgbClr val="A8681B"/>
                </a:solidFill>
                <a:latin typeface="맑은 고딕"/>
                <a:ea typeface="맑은 고딕"/>
              </a:rPr>
              <a:t>부족·충돌 → 안전한 보류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343400"/>
            <a:ext cx="11155680" cy="100584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1824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18242E"/>
                </a:solidFill>
                <a:latin typeface="맑은 고딕"/>
                <a:ea typeface="맑은 고딕"/>
              </a:rPr>
              <a:t>전 구간 감시 — 감사로그(위변조 방지) · 성능 관측(P50·P95·P99 단계별) · 평가 게이트(회귀 통과 없이는 어떤 변경도 반영 금지)</a:t>
            </a:r>
          </a:p>
          <a:p>
            <a:pPr algn="ctr"/>
            <a:r>
              <a:rPr sz="950" b="0">
                <a:solidFill>
                  <a:srgbClr val="0E6E5C"/>
                </a:solidFill>
                <a:latin typeface="맑은 고딕"/>
                <a:ea typeface="맑은 고딕"/>
              </a:rPr>
              <a:t>상담사 피드백(채택·수정·보류)은 평가·개선 자료로 되돌아옵니다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7784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A6B77"/>
                </a:solidFill>
                <a:latin typeface="맑은 고딕"/>
                <a:ea typeface="맑은 고딕"/>
              </a:rPr>
              <a:t>운영계 쓰기 없음 · 고객 직접 응대 없음 — RFP 범위 준수 (읽기 전용 격리)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6E5C"/>
                </a:solidFill>
                <a:latin typeface="맑은 고딕"/>
                <a:ea typeface="맑은 고딕"/>
              </a:rPr>
              <a:t>로컬 LLM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8242E"/>
                </a:solidFill>
                <a:latin typeface="맑은 고딕"/>
                <a:ea typeface="맑은 고딕"/>
              </a:rPr>
              <a:t>왜 전부 발주사 GPU에서 도는가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GS텔레서비스 AICC PoC 제안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361188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91056"/>
            <a:ext cx="3282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6E5C"/>
                </a:solidFill>
                <a:latin typeface="맑은 고딕"/>
                <a:ea typeface="맑은 고딕"/>
              </a:rPr>
              <a:t>학습배제의 가장 강한 증빙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01952"/>
            <a:ext cx="328269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B77"/>
                </a:solidFill>
                <a:latin typeface="맑은 고딕"/>
                <a:ea typeface="맑은 고딕"/>
              </a:rPr>
              <a:t>외부 API는 “재학습에 안 쓴다”는 계약·설정 증빙이 필요합니다(AQR-09). 로컬 구동은 나갈 통신 자체가 없습니다. 증빙 = 망 구성도 + 외부 발신 차단 로그.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463040"/>
            <a:ext cx="361188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591056"/>
            <a:ext cx="3282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6E5C"/>
                </a:solidFill>
                <a:latin typeface="맑은 고딕"/>
                <a:ea typeface="맑은 고딕"/>
              </a:rPr>
              <a:t>비용 고정 · 종속 차단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1901952"/>
            <a:ext cx="328269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B77"/>
                </a:solidFill>
                <a:latin typeface="맑은 고딕"/>
                <a:ea typeface="맑은 고딕"/>
              </a:rPr>
              <a:t>글자 수 단위 과금이 없어 질의량이 늘어도 월 비용이 고정(AQR-10). 모델은 표준 모델 파일(GGUF)※ — 발주사가 직접 교체·재구동 가능(4.8 개방성).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463040"/>
            <a:ext cx="361188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6" y="1591056"/>
            <a:ext cx="3282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6E5C"/>
                </a:solidFill>
                <a:latin typeface="맑은 고딕"/>
                <a:ea typeface="맑은 고딕"/>
              </a:rPr>
              <a:t>3초를 우리가 통제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1901952"/>
            <a:ext cx="328269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B77"/>
                </a:solidFill>
                <a:latin typeface="맑은 고딕"/>
                <a:ea typeface="맑은 고딕"/>
              </a:rPr>
              <a:t>외부 API의 네트워크·대기열 변동이 사라지고 지연 전 구간이 내부에 있어 단계별 계측·통제 가능(PER-01·05). 장애 시 자동 재기동은 자사 제품 운영 기능(PER-06).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389120"/>
            <a:ext cx="45720" cy="1417320"/>
          </a:xfrm>
          <a:prstGeom prst="rect">
            <a:avLst/>
          </a:prstGeom>
          <a:solidFill>
            <a:srgbClr val="0E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3484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242E"/>
                </a:solidFill>
                <a:latin typeface="맑은 고딕"/>
                <a:ea typeface="맑은 고딕"/>
              </a:rPr>
              <a:t>모델 채택 절차도 제안의 일부: </a:t>
            </a:r>
            <a:r>
              <a:rPr sz="1100" b="0">
                <a:solidFill>
                  <a:srgbClr val="5A6B77"/>
                </a:solidFill>
                <a:latin typeface="맑은 고딕"/>
                <a:ea typeface="맑은 고딕"/>
              </a:rPr>
              <a:t>특정 모델을 못박지 않고, G2(4주차)에 후보 2~3종(Qwen3-Next-80B, gpt-oss-120B 등 Apache 2.0 계열)을 동일 평가셋으로 공개 비교해 발주사와 채택 확정. 한국어 최상위 EXAONE은 비상업 라이선스라 기본 구성에서 배제하고 사유를 명시합니다(AQR-01 라이선스 공개 원칙).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6E5C"/>
                </a:solidFill>
                <a:latin typeface="맑은 고딕"/>
                <a:ea typeface="맑은 고딕"/>
              </a:rPr>
              <a:t>GPU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8242E"/>
                </a:solidFill>
                <a:latin typeface="맑은 고딕"/>
                <a:ea typeface="맑은 고딕"/>
              </a:rPr>
              <a:t>VRAM은 용량이 아니라 역할로 나눕니다 — 제안 구조: 2-GPU 분리, 총 96GB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77"/>
                </a:solidFill>
                <a:latin typeface="맑은 고딕"/>
                <a:ea typeface="맑은 고딕"/>
              </a:rPr>
              <a:t>직렬 대자원(답변 생성)과 병렬 소자원(검증·검색)을 물리적으로 분리해 서로 간섭하지 않게 하는 설계입니다. 응답시간(P95)이 흔들리는 주원인이 자원 경합이기 때문입니다.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GS텔레서비스 AICC PoC 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242E"/>
                </a:solidFill>
                <a:latin typeface="맑은 고딕"/>
                <a:ea typeface="맑은 고딕"/>
              </a:rPr>
              <a:t>GPU A — 80GB급 1장 · “말하는 GPU” (직렬 대자원)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7697419" cy="457200"/>
          </a:xfrm>
          <a:prstGeom prst="rect">
            <a:avLst/>
          </a:prstGeom>
          <a:solidFill>
            <a:srgbClr val="0E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주력 답변 모델 80B 전문가 분업형(MoE)※ ≈55GB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00339" y="1874519"/>
            <a:ext cx="1673352" cy="457200"/>
          </a:xfrm>
          <a:prstGeom prst="rect">
            <a:avLst/>
          </a:prstGeom>
          <a:solidFill>
            <a:srgbClr val="3A8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대화 기억 12GB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3691" y="1874519"/>
            <a:ext cx="1784908" cy="457200"/>
          </a:xfrm>
          <a:prstGeom prst="rect">
            <a:avLst/>
          </a:prstGeom>
          <a:solidFill>
            <a:srgbClr val="9DC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여유 13GB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242E"/>
                </a:solidFill>
                <a:latin typeface="맑은 고딕"/>
                <a:ea typeface="맑은 고딕"/>
              </a:rPr>
              <a:t>GPU B — 16GB급 1장 · “검사하는 GPU” (병렬 소자원)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16352"/>
            <a:ext cx="6247180" cy="457200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검증·요약 보조 모델 8B ≈9GB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0100" y="2816352"/>
            <a:ext cx="1784908" cy="457200"/>
          </a:xfrm>
          <a:prstGeom prst="rect">
            <a:avLst/>
          </a:prstGeom>
          <a:solidFill>
            <a:srgbClr val="7C9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검색 눈 2.5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35008" y="2816352"/>
            <a:ext cx="1784908" cy="457200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재정렬기 2.5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19916" y="2816352"/>
            <a:ext cx="1338681" cy="457200"/>
          </a:xfrm>
          <a:prstGeom prst="rect">
            <a:avLst/>
          </a:prstGeom>
          <a:solidFill>
            <a:srgbClr val="7C9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여유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1188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739896"/>
            <a:ext cx="5157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6E5C"/>
                </a:solidFill>
                <a:latin typeface="맑은 고딕"/>
                <a:ea typeface="맑은 고딕"/>
              </a:rPr>
              <a:t>왜 이 구조인가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050792"/>
            <a:ext cx="515721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77"/>
                </a:solidFill>
                <a:latin typeface="맑은 고딕"/>
                <a:ea typeface="맑은 고딕"/>
              </a:rPr>
              <a:t>① 답을 만드는 일과 답을 검사하는 일이 GPU를 뺏고 뺏기지 않음 → 근거 대조를 생성과 병행해도 응답시간 안정</a:t>
            </a:r>
          </a:p>
          <a:p>
            <a:pPr algn="l"/>
            <a:r>
              <a:rPr sz="1000" b="0">
                <a:solidFill>
                  <a:srgbClr val="5A6B77"/>
                </a:solidFill>
                <a:latin typeface="맑은 고딕"/>
                <a:ea typeface="맑은 고딕"/>
              </a:rPr>
              <a:t>② 대화 기억(세션 캐시)※ 12GB를 미리 확보 → 20 동시 세션(PER-03)이 설계값</a:t>
            </a:r>
          </a:p>
          <a:p>
            <a:pPr algn="l"/>
            <a:r>
              <a:rPr sz="1000" b="0">
                <a:solidFill>
                  <a:srgbClr val="5A6B77"/>
                </a:solidFill>
                <a:latin typeface="맑은 고딕"/>
                <a:ea typeface="맑은 고딕"/>
              </a:rPr>
              <a:t>③ 여유 13GB는 G2 후보 모델 교체 시험 공간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61188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3739896"/>
            <a:ext cx="5157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6E5C"/>
                </a:solidFill>
                <a:latin typeface="맑은 고딕"/>
                <a:ea typeface="맑은 고딕"/>
              </a:rPr>
              <a:t>규모 조정 가이드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4050792"/>
            <a:ext cx="515721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A8681B"/>
                </a:solidFill>
                <a:latin typeface="맑은 고딕"/>
                <a:ea typeface="맑은 고딕"/>
              </a:rPr>
              <a:t>최소 48GB  </a:t>
            </a:r>
            <a:r>
              <a:rPr sz="1000" b="0">
                <a:solidFill>
                  <a:srgbClr val="5A6B77"/>
                </a:solidFill>
                <a:latin typeface="맑은 고딕"/>
                <a:ea typeface="맑은 고딕"/>
              </a:rPr>
              <a:t>32B급 겸임 구조 — 합격선 도전의 하한, 복합·예외 시나리오 여유 없음</a:t>
            </a:r>
          </a:p>
          <a:p>
            <a:pPr algn="l"/>
            <a:r>
              <a:rPr sz="1000" b="1">
                <a:solidFill>
                  <a:srgbClr val="0E6E5C"/>
                </a:solidFill>
                <a:latin typeface="맑은 고딕"/>
                <a:ea typeface="맑은 고딕"/>
              </a:rPr>
              <a:t>제안 96GB  </a:t>
            </a:r>
            <a:r>
              <a:rPr sz="1000" b="0">
                <a:solidFill>
                  <a:srgbClr val="5A6B77"/>
                </a:solidFill>
                <a:latin typeface="맑은 고딕"/>
                <a:ea typeface="맑은 고딕"/>
              </a:rPr>
              <a:t>속도·품질·동시성 균형점 — 발주사 가용 범위 내</a:t>
            </a:r>
          </a:p>
          <a:p>
            <a:pPr algn="l"/>
            <a:r>
              <a:rPr sz="1000" b="1">
                <a:solidFill>
                  <a:srgbClr val="5A6B77"/>
                </a:solidFill>
                <a:latin typeface="맑은 고딕"/>
                <a:ea typeface="맑은 고딕"/>
              </a:rPr>
              <a:t>확장 160GB+  </a:t>
            </a:r>
            <a:r>
              <a:rPr sz="1000" b="0">
                <a:solidFill>
                  <a:srgbClr val="5A6B77"/>
                </a:solidFill>
                <a:latin typeface="맑은 고딕"/>
                <a:ea typeface="맑은 고딕"/>
              </a:rPr>
              <a:t>235B급·이중 A/B 상주 — 이득 완만, PoC엔 과투자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6E5C"/>
                </a:solidFill>
                <a:latin typeface="맑은 고딕"/>
                <a:ea typeface="맑은 고딕"/>
              </a:rPr>
              <a:t>성능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8242E"/>
                </a:solidFill>
                <a:latin typeface="맑은 고딕"/>
                <a:ea typeface="맑은 고딕"/>
              </a:rPr>
              <a:t>P95 3초 — 단계별 시간 예산으로 관리합니다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77"/>
                </a:solidFill>
                <a:latin typeface="맑은 고딕"/>
                <a:ea typeface="맑은 고딕"/>
              </a:rPr>
              <a:t>“빨라졌다”가 아니라 어느 단계가 몇 초인지로 관리하고, 요청 ID별 원시로그를 그대로 제출합니다(응답시간 시험 방법 전 항목 수용 — 사전 고정답변·실패질의 삭제 없음).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GS텔레서비스 AICC PoC 제안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00200"/>
          <a:ext cx="11155680" cy="2523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822960"/>
                <a:gridCol w="5669280"/>
                <a:gridCol w="2286000"/>
              </a:tblGrid>
              <a:tr h="23774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예산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수단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담당 자원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질문 이해·식별자 조회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0.2초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상태 조회는 정비된 HUB에서 — 원천 시스템 왕복 없음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GPU B(경량 분류) + DB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겹검색 + 재정렬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0.4초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의미+키워드 병렬, 유효 버전 사전 필터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GPU B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답변 생성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1.7초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근거 상위 몇 건만 투입(문맥 슬림화) + 구조 출력 + 스트리밍 표시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GPU 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근거 검증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0.4초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생성 흐름과 병행 대조 — 직렬 대기 없음, 실패 시 즉시 보류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GPU B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여유(P95 변동 흡수)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0.3초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20 동시 세션 겹쳐 처리(연속 배칭)※ 지터 포함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8463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B77"/>
                </a:solidFill>
                <a:latin typeface="맑은 고딕"/>
                <a:ea typeface="맑은 고딕"/>
              </a:rPr>
              <a:t>주력이 전문가 분업형(MoE)※ 모델이라 70B급 지식을 소형 모델급 속도로 냅니다. 1~2주차에 발주사 실 GPU에서 생성 속도를 실측해 이 표를 실측치로 갱신하고, G3(8주차) 전에 20 동시 세션 부하시험을 자체 수행합니다.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6E5C"/>
                </a:solidFill>
                <a:latin typeface="맑은 고딕"/>
                <a:ea typeface="맑은 고딕"/>
              </a:rPr>
              <a:t>요구사항 1:1 대응 (1/4)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8242E"/>
                </a:solidFill>
                <a:latin typeface="맑은 고딕"/>
                <a:ea typeface="맑은 고딕"/>
              </a:rPr>
              <a:t>데이터 품질(DQR) · 표준·연결(DSR)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GS텔레서비스 AICC PoC 제안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79" cy="4773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/>
                <a:gridCol w="1600200"/>
                <a:gridCol w="777240"/>
                <a:gridCol w="7726679"/>
              </a:tblGrid>
              <a:tr h="23774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ID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요구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당사 대응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DQR-01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원천 목록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수행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1~2주차 원천별 소유자·형식·민감도 전수 조사 — 조사 템플릿 보유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DQR-02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필수항목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수행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업무판정 필수항목 정의 + 누락 시 보류 규칙을 보류 엔진에 직결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DQR-03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품질측정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완전성·유일성·유효성·일관성·최신성·참조무결성 6축 측정 도구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DQR-04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기준선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수행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G1 시점 기준선 산출, 조치 전후 수치 비교 제출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DQR-05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정제이력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변환·제외 규칙·건수·원본 연결키·승인자 기록 구조 운영 중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DQR-06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개인정보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수행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최소수집·마스킹·가명처리 파이프라인 + 재식별 위험 점검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DQR-07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시점관리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발생·갱신·수집 시각 구분 — 문서 해시·시각 추적 운영 중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DQR-08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준비상태 관문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수행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2주차 확보율·품질·결손·대체안 보고로 G1 승인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DSR-01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업무용어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용어사전+동의어 매핑 체계 운영 중 → 커머스 용어로 이식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DSR-02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식별자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수행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고객→주문→라인→클레임 연결 우선순위 설계 (허브 정규화 패턴 재사용)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DSR-03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코드정합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수행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공통 처리상태 매핑 + 미매핑 코드 자동 탐지 리포트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DSR-04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문서버전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내용 해시 기반 버전 추적 — 1글자 변경도 재색인 강제, 운영 중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DSR-05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예외규칙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온톨로지 관계망(약 2,000관계 운영 실적) — 예외·우선순위를 규칙으로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DSR-06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충돌처리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기준 충돌 감지 → 우선순위 판정 또는 보류 전환 로직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DSR-07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추적성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답변→근거→원본 레코드·변환이력 역추적 — 감사로그 연동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DSR-08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개방형 산출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CSV·JSON·SQL 표준 형식 — 독점 형식 없음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E6E5C"/>
                </a:solidFill>
                <a:latin typeface="맑은 고딕"/>
                <a:ea typeface="맑은 고딕"/>
              </a:rPr>
              <a:t>충족</a:t>
            </a:r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 제품 보유 기능·구조    </a:t>
            </a:r>
            <a:r>
              <a:rPr sz="900" b="1">
                <a:solidFill>
                  <a:srgbClr val="5A6B77"/>
                </a:solidFill>
                <a:latin typeface="맑은 고딕"/>
                <a:ea typeface="맑은 고딕"/>
              </a:rPr>
              <a:t>수행</a:t>
            </a:r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 PoC 기간 수행 항목(방법론 보유)    </a:t>
            </a:r>
            <a:r>
              <a:rPr sz="900" b="1">
                <a:solidFill>
                  <a:srgbClr val="A8681B"/>
                </a:solidFill>
                <a:latin typeface="맑은 고딕"/>
                <a:ea typeface="맑은 고딕"/>
              </a:rPr>
              <a:t>조건부</a:t>
            </a:r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 실측으로 확정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6E5C"/>
                </a:solidFill>
                <a:latin typeface="맑은 고딕"/>
                <a:ea typeface="맑은 고딕"/>
              </a:rPr>
              <a:t>요구사항 1:1 대응 (2/4)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8242E"/>
                </a:solidFill>
                <a:latin typeface="맑은 고딕"/>
                <a:ea typeface="맑은 고딕"/>
              </a:rPr>
              <a:t>검색·답변(FNR) · AI 모델 품질(AQR)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GS텔레서비스 AICC PoC 제안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79" cy="4809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/>
                <a:gridCol w="1600200"/>
                <a:gridCol w="777240"/>
                <a:gridCol w="7726679"/>
              </a:tblGrid>
              <a:tr h="23774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ID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요구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당사 대응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FNR-01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질문입력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자연어 + 주문·클레임 식별자 연계 입력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FNR-02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상황요약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사용 데이터·기준시각을 답변 상단 상태 카드로 표시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FNR-03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처리안내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가능 여부·순서·필수 확인·승인 필요를 구조화 출력으로 구분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FNR-04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근거제시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출처·구간·시행일·버전 = 필수 필드 (근거 배지 운영 중)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FNR-05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안전한 보류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무근거 감지 시 재작성 금지·보류 전환 — 제품 핵심 로직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FNR-06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피드백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채택·수정·부정확·근거부족·보류적절 + 사유 기록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FNR-07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재현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동일 입력·동일 버전 재현 — 감사로그에 전 버전 기록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FNR-08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관리자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데이터·문서·규칙·모델·프롬프트 버전과 오류 통계 조회 화면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AQR-01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모델공개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전 모델 이름·버전·라이선스·출처 공개 (비상업 라이선스 배제 원칙)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AQR-02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기준비교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수행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동일 데이터·도구·평가셋 비교 — 자사 3축 평가 게이트로 G2 수행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AQR-03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비열위 95%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A8681B"/>
                          </a:solidFill>
                          <a:latin typeface="맑은 고딕"/>
                          <a:ea typeface="맑은 고딕"/>
                        </a:rPr>
                        <a:t>조건부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G2 조기 실측 자청 — 미달 시 승인 상용모델 대체경로 이중화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AQR-04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한국어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한국어 성능 실측 비교로 후보 선정 + 숫자·날짜·경어 검증셋 포함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AQR-05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근거제약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승인 데이터·기준 밖 사실 생성 차단 — 근거 묶기(그라운딩) 운영 중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AQR-06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구조출력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합의 구조 반환 — 모델 출력을 문법 수준에서 강제(형식 이탈 자체가 불가)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AQR-07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변경통제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회귀 게이트 통과 없이 어떤 변경도 반영 금지 — 매일 자동회귀 운영 실적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AQR-08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대체경로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모델 풀·대체 라우팅·안전한 중단(품질 저하 표시) — 제품 기능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AQR-09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학습배제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로컬 구동 — 외부 전송 자체 없음. 망 구성도+차단 로그로 증빙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AQR-10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비용측정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질의당 사용량 계측 + 전력 기반 월간 고정비 산식 제시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E6E5C"/>
                </a:solidFill>
                <a:latin typeface="맑은 고딕"/>
                <a:ea typeface="맑은 고딕"/>
              </a:rPr>
              <a:t>충족</a:t>
            </a:r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 제품 보유 기능·구조    </a:t>
            </a:r>
            <a:r>
              <a:rPr sz="900" b="1">
                <a:solidFill>
                  <a:srgbClr val="5A6B77"/>
                </a:solidFill>
                <a:latin typeface="맑은 고딕"/>
                <a:ea typeface="맑은 고딕"/>
              </a:rPr>
              <a:t>수행</a:t>
            </a:r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 PoC 기간 수행 항목(방법론 보유)    </a:t>
            </a:r>
            <a:r>
              <a:rPr sz="900" b="1">
                <a:solidFill>
                  <a:srgbClr val="A8681B"/>
                </a:solidFill>
                <a:latin typeface="맑은 고딕"/>
                <a:ea typeface="맑은 고딕"/>
              </a:rPr>
              <a:t>조건부</a:t>
            </a:r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 실측으로 확정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6E5C"/>
                </a:solidFill>
                <a:latin typeface="맑은 고딕"/>
                <a:ea typeface="맑은 고딕"/>
              </a:rPr>
              <a:t>요구사항 1:1 대응 (3/4)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8242E"/>
                </a:solidFill>
                <a:latin typeface="맑은 고딕"/>
                <a:ea typeface="맑은 고딕"/>
              </a:rPr>
              <a:t>성능·안정성(PER) · 보안·개인정보(SEC)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GS텔레서비스 AICC PoC 제안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79" cy="4809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/>
                <a:gridCol w="1600200"/>
                <a:gridCol w="777240"/>
                <a:gridCol w="7726679"/>
              </a:tblGrid>
              <a:tr h="23774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ID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요구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당사 대응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PER-01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P95 3.0초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A8681B"/>
                          </a:solidFill>
                          <a:latin typeface="맑은 고딕"/>
                          <a:ea typeface="맑은 고딕"/>
                        </a:rPr>
                        <a:t>조건부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단계별 예산 3.0초 설계(7쪽) — 1~2주차 실 GPU 실측으로 확정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PER-02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P99 5초·초과율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임계 초과 시 안전한 안내 전환 로직 운영 중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PER-03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20 동시세션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A8681B"/>
                          </a:solidFill>
                          <a:latin typeface="맑은 고딕"/>
                          <a:ea typeface="맑은 고딕"/>
                        </a:rPr>
                        <a:t>조건부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대화 기억 12GB 선예산 + 겹쳐 처리 — G3 전 부하시험으로 증명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PER-04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측정조건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300질의·3회 반복·30% 비캐시·고정답변 금지 전면 수용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PER-05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종단간 측정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화면→검색→모델→후처리 요청 ID별 단계 계측 — 서버 원시로그 제출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PER-06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가용성 99.5%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모델 프로세스 감시·자동 재기동 — 제품 운영 기능, 장애 이력 보고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PER-07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열화통제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재시도 제한·중복요청 방지·안전한 중단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PER-08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관측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P50·P95·P99·오류율·단계별 소요 대시보드 운영 중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SEC-01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격리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전용 계정·망·저장소 + 외부 발신 전면 차단(에어갭)※ 모드 — 제품 기능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SEC-02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최소권한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역할 기반 접근 + 폐쇄망 동작 2차 인증(TOTP) + 세션 통제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SEC-03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암호화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저장 AES-256(선택형) — 키는 발주사 서버 생성·보관(공급사 미보유) + 전송 암호화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SEC-04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개인정보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수행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사전 승인 절차 + 주민번호·카드번호 자동 마스킹 내장(가림 기록) — 국외이전 없음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SEC-05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로그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위변조 방지 기록 — 끌 수 없음 · 기본 3년 보관 · 정리 사실도 기록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SEC-06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공격방어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3중 방어(입구 가드레일·반입 문서 살균·출구 자격증명 가림) + 자동 레드팀 상시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SEC-07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취약점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수행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구성요소 목록·취약점 점검·라이선스 검토 결과 제출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SEC-08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반출·삭제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데이터·로그·백업·모델 캐시 완전삭제 + “복구되는 백업인지” 검증 절차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SEC-09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사고대응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수행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즉시 차단·통보·보존·조사·재발방지 절차서 제출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SEC-10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외부업체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모델·데이터 외부 처리 없음(로컬) — 하도급 발생 시 사전 공개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E6E5C"/>
                </a:solidFill>
                <a:latin typeface="맑은 고딕"/>
                <a:ea typeface="맑은 고딕"/>
              </a:rPr>
              <a:t>충족</a:t>
            </a:r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 제품 보유 기능·구조    </a:t>
            </a:r>
            <a:r>
              <a:rPr sz="900" b="1">
                <a:solidFill>
                  <a:srgbClr val="5A6B77"/>
                </a:solidFill>
                <a:latin typeface="맑은 고딕"/>
                <a:ea typeface="맑은 고딕"/>
              </a:rPr>
              <a:t>수행</a:t>
            </a:r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 PoC 기간 수행 항목(방법론 보유)    </a:t>
            </a:r>
            <a:r>
              <a:rPr sz="900" b="1">
                <a:solidFill>
                  <a:srgbClr val="A8681B"/>
                </a:solidFill>
                <a:latin typeface="맑은 고딕"/>
                <a:ea typeface="맑은 고딕"/>
              </a:rPr>
              <a:t>조건부</a:t>
            </a:r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 실측으로 확정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6E5C"/>
                </a:solidFill>
                <a:latin typeface="맑은 고딕"/>
                <a:ea typeface="맑은 고딕"/>
              </a:rPr>
              <a:t>요구사항 1:1 대응 (4/4)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8242E"/>
                </a:solidFill>
                <a:latin typeface="맑은 고딕"/>
                <a:ea typeface="맑은 고딕"/>
              </a:rPr>
              <a:t>사용자 화면(UXR) · 운영관리(OPS) — 및 판정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GS텔레서비스 AICC PoC 제안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79" cy="2788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/>
                <a:gridCol w="1600200"/>
                <a:gridCol w="777240"/>
                <a:gridCol w="7726679"/>
              </a:tblGrid>
              <a:tr h="23774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ID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요구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당사 대응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UXR-01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한 화면 구성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질문·요약·처리방향·근거·예외·보류사유 단일 화면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UXR-02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근거열기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출처 문서 해당 구간+버전 원클릭 열람 (별도 탐색 없음)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UXR-03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오인방지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AI 제안 표시·확정 분리(승인 카드) + 실행된 변경 원클릭 되돌리기 — 운영 중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UXR-04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피드백 2회 조작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답변 카드 내 원클릭 채택·수정·오류유형 기록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UXR-05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관리기능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승인 담당자의 문서·규칙·버전 변경 + 이력 조회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OPS-01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배포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개발·검증·인수 환경 분리, 버전·배포·복구 절차 제공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OPS-02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모니터링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정확도·근거누락·보류·지연·오류·사용량 추이 대시보드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OPS-03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지식이전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수행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담당자 교육·운영 실습·장애 모의훈련 (G6)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OPS-04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인수성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E6E5C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발주사 저장소에 소스·설정·문서·시험자료 이력 포함 제출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57200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0E6E5C"/>
                </a:solidFill>
                <a:latin typeface="맑은 고딕"/>
                <a:ea typeface="맑은 고딕"/>
              </a:rPr>
              <a:t>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12064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A6B77"/>
                </a:solidFill>
                <a:latin typeface="맑은 고딕"/>
                <a:ea typeface="맑은 고딕"/>
              </a:rPr>
              <a:t>충족 — 제품 보유 기능·구조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457200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4690872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5A6B77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512064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A6B77"/>
                </a:solidFill>
                <a:latin typeface="맑은 고딕"/>
                <a:ea typeface="맑은 고딕"/>
              </a:rPr>
              <a:t>수행 — 방법론 보유, PoC 기간 수행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457200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4690872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A8681B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512064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A6B77"/>
                </a:solidFill>
                <a:latin typeface="맑은 고딕"/>
                <a:ea typeface="맑은 고딕"/>
              </a:rPr>
              <a:t>조건부 — 실측으로 확정 (AQR-03·PER-01·03)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89136" y="457200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9136" y="4690872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0E6E5C"/>
                </a:solidFill>
                <a:latin typeface="맑은 고딕"/>
                <a:ea typeface="맑은 고딕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512064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A6B77"/>
                </a:solidFill>
                <a:latin typeface="맑은 고딕"/>
                <a:ea typeface="맑은 고딕"/>
              </a:rPr>
              <a:t>미충족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77"/>
                </a:solidFill>
                <a:latin typeface="맑은 고딕"/>
                <a:ea typeface="맑은 고딕"/>
              </a:rPr>
              <a:t>RFP 4장 원칙(“가능·지원 예정·협의 필요 표현 금지”)에 따라, 실측 없이 확정할 수 없는 3건은 정직하게 조건부로 표기하고 확정 시점(G1~G3)을 명시했습니다.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6E5C"/>
                </a:solidFill>
                <a:latin typeface="맑은 고딕"/>
                <a:ea typeface="맑은 고딕"/>
              </a:rPr>
              <a:t>검증 기준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8242E"/>
                </a:solidFill>
                <a:latin typeface="맑은 고딕"/>
                <a:ea typeface="맑은 고딕"/>
              </a:rPr>
              <a:t>정량 목표 — 지표마다 책임지는 부품이 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GS텔레서비스 AICC PoC 제안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11155680" cy="3895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914400"/>
                <a:gridCol w="2377440"/>
                <a:gridCol w="6126480"/>
              </a:tblGrid>
              <a:tr h="23774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합격선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책임 부품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달성 방법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업무정확도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90%↑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지식층 + 주력 모델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근거 묶기(그라운딩)※ + 규정 관계망(온톨로지)※ + 모범 사례 예시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근거일치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95%↑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검증 보조 모델(GPU B)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문장 단위 근거 대조 — 근거 없는 문장은 화면 표시 전 차단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출처·버전 표시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100%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구조 출력 스키마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출처·시행일·버전 = 필수 필드, 누락 시 답변 조립 자체가 불가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정답 근거 Top-5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90%↑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겹검색※ + 재정렬기※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의미+키워드 병행 검색 후 정밀 재정렬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중대오답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0건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보류 정책+거짓 완료 차단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보류 우선 + 안 한 처리를 “했다”고 말하면 실제 데이터와 대조해 출구 차단(운영 중 기능)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적정 보류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95%↑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보류 엔진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필수항목 체크(S-07) + 충돌 감지(DSR-06) + 보류 사유 명시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P95 응답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3.0초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2-GPU 분리 배치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단계별 예산(7쪽) + 생성·검증 병행 + 겹쳐 처리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검색·확인시간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30%↓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한 화면 통합 UI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그림자 운영※ 중앙값 측정 — 탐색 시간 자체를 제거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6E5C"/>
                </a:solidFill>
                <a:latin typeface="맑은 고딕"/>
                <a:ea typeface="맑은 고딕"/>
              </a:rPr>
              <a:t>수행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8242E"/>
                </a:solidFill>
                <a:latin typeface="맑은 고딕"/>
                <a:ea typeface="맑은 고딕"/>
              </a:rPr>
              <a:t>12주 — 누가 무엇을 언제: 실작업·협조·달력 시간을 갈라서 관리합니다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77"/>
                </a:solidFill>
                <a:latin typeface="맑은 고딕"/>
                <a:ea typeface="맑은 고딕"/>
              </a:rPr>
              <a:t>RFP 3.6절 역할 분담을 일정에 그대로 매핑 — 당사 실작업이 짧은 만큼, 남는 시간은 같은 12주 안에서 검증 반복(2~3회전)과 시연 준비에 재투자됩니다.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GS텔레서비스 AICC PoC 제안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155679" cy="32552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2960"/>
                <a:gridCol w="1463040"/>
                <a:gridCol w="3749039"/>
                <a:gridCol w="3566160"/>
                <a:gridCol w="1554480"/>
              </a:tblGrid>
              <a:tr h="23774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주차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관문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제안사 실작업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발주사 협조 (요청 기한)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달력 시간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1~2주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G1 데이터 준비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원천 조사·품질 측정 가동, GPU 속도 실측 — 실작업 ~3일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계정·망 접근(착수+3일), 데이터 제공 승인(+7일), 담당자 배정(+10일)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부서 결재 대기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3~4주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G2 기준·평가설계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용어·코드 매핑, 평가셋 100건 초안, 모델 공개 비교 — ~4일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업무전문가 2인 정답 검토·승인, 기준 문서 최신본 확정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전문가 검토 회차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5~8주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G3 기능·보안 준비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구현 전체(커넥터·지식층·화면·레드팀·부하시험) — 당사 최단 구간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중간점검 참석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9~10주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G4 비공개 평가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오류분석·수정·회귀 재시험 — 반복 2~3회전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비공개 300건 평가는 발주사 주관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평가 회차 일정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11주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G5 그림자 운영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관찰·즉시 수정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상담사 투입 편성(10주차까지 확정)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실사용 1주 = 달력 그 자체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12주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G6 최종 인수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산출물 정리·재현시험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인수 확인·교육 참석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5349240"/>
            <a:ext cx="45720" cy="914400"/>
          </a:xfrm>
          <a:prstGeom prst="rect">
            <a:avLst/>
          </a:prstGeom>
          <a:solidFill>
            <a:srgbClr val="0E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394960"/>
            <a:ext cx="107899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8242E"/>
                </a:solidFill>
                <a:latin typeface="맑은 고딕"/>
                <a:ea typeface="맑은 고딕"/>
              </a:rPr>
              <a:t>발주사 협조 캘린더(착수계획서 명문화): </a:t>
            </a:r>
            <a:r>
              <a:rPr sz="1050" b="0">
                <a:solidFill>
                  <a:srgbClr val="5A6B77"/>
                </a:solidFill>
                <a:latin typeface="맑은 고딕"/>
                <a:ea typeface="맑은 고딕"/>
              </a:rPr>
              <a:t>① 계정·망 접근 착수+3일 ② 데이터 제공 승인 +7일 ③ 업무전문가 2인 배정 +10일 ④ 그림자 운영 상담사 편성 10주차까지 — 기한 경과 시 해당 관문 일정은 경과일만큼 이동(범위·검증 기준은 불변).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6E5C"/>
                </a:solidFill>
                <a:latin typeface="맑은 고딕"/>
                <a:ea typeface="맑은 고딕"/>
              </a:rPr>
              <a:t>위험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8242E"/>
                </a:solidFill>
                <a:latin typeface="맑은 고딕"/>
                <a:ea typeface="맑은 고딕"/>
              </a:rPr>
              <a:t>위험을 숨기지 않습니다 — 조건부 3건의 관리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GS텔레서비스 AICC PoC 제안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61188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45720" cy="4480560"/>
          </a:xfrm>
          <a:prstGeom prst="rect">
            <a:avLst/>
          </a:prstGeom>
          <a:solidFill>
            <a:srgbClr val="A86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17904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A8681B"/>
                </a:solidFill>
                <a:latin typeface="맑은 고딕"/>
                <a:ea typeface="맑은 고딕"/>
              </a:rPr>
              <a:t>AQR-03 비열위 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32918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77"/>
                </a:solidFill>
                <a:latin typeface="맑은 고딕"/>
                <a:ea typeface="맑은 고딕"/>
              </a:rPr>
              <a:t>로컬 오픈 모델은 최상위 상용 모델과 맨몸 격차가 있습니다. 저희 전략은 격차를 데이터로 메우는 것 — 정비 데이터·규정 관계망·근거 게이트가 붙은 로컬 구성 대(對) 맨몸 기준모델 비교입니다(자사 실측: 근거 묶기 강화 &gt; 모델 2배 확대).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97680"/>
            <a:ext cx="3291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8242E"/>
                </a:solidFill>
                <a:latin typeface="맑은 고딕"/>
                <a:ea typeface="맑은 고딕"/>
              </a:rPr>
              <a:t>통제: G2(4주차) 조기 비교 자청 · 미달 시 승인 상용모델 대체경로 이중화(근거·보류·감사 골격은 동일 유지).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371600"/>
            <a:ext cx="361188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371600"/>
            <a:ext cx="45720" cy="4480560"/>
          </a:xfrm>
          <a:prstGeom prst="rect">
            <a:avLst/>
          </a:prstGeom>
          <a:solidFill>
            <a:srgbClr val="A86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517904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A8681B"/>
                </a:solidFill>
                <a:latin typeface="맑은 고딕"/>
                <a:ea typeface="맑은 고딕"/>
              </a:rPr>
              <a:t>PER-01·03 성능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1920240"/>
            <a:ext cx="32918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77"/>
                </a:solidFill>
                <a:latin typeface="맑은 고딕"/>
                <a:ea typeface="맑은 고딕"/>
              </a:rPr>
              <a:t>3초·20세션은 발주사 GPU 기종·장수에 따라 달라지는 실측 값입니다. 설계상 여유(전문가 분업형 주력 + 병행 검증 + 대화 기억 선예산)를 뒀지만 확정은 측정으로만 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4297680"/>
            <a:ext cx="3291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8242E"/>
                </a:solidFill>
                <a:latin typeface="맑은 고딕"/>
                <a:ea typeface="맑은 고딕"/>
              </a:rPr>
              <a:t>통제: 1~2주차 실 GPU 실측 → 예산표 갱신 · 미달 시 압축 수준·모델 크기 조정(전부 회귀 게이트 통과 조건) · G3 전 자체 부하시험.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1371600"/>
            <a:ext cx="361188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5864" y="1371600"/>
            <a:ext cx="45720" cy="4480560"/>
          </a:xfrm>
          <a:prstGeom prst="rect">
            <a:avLst/>
          </a:prstGeom>
          <a:solidFill>
            <a:srgbClr val="A86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1517904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A8681B"/>
                </a:solidFill>
                <a:latin typeface="맑은 고딕"/>
                <a:ea typeface="맑은 고딕"/>
              </a:rPr>
              <a:t>데이터 품질 의존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920240"/>
            <a:ext cx="32918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77"/>
                </a:solidFill>
                <a:latin typeface="맑은 고딕"/>
                <a:ea typeface="맑은 고딕"/>
              </a:rPr>
              <a:t>정확도 90%는 원천 데이터가 받쳐줘야 합니다. 핵심 결손이 있으면 어떤 모델도 못 메웁니다.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4297680"/>
            <a:ext cx="3291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8242E"/>
                </a:solidFill>
                <a:latin typeface="맑은 고딕"/>
                <a:ea typeface="맑은 고딕"/>
              </a:rPr>
              <a:t>통제: G1 관문에서 결손을 숫자로 보고 — 추정으로 메우지 않고 대체안 또는 범위 조정을 서면 제안. 커머스 커넥터는 신규 개발이나 정규화 허브 골격 재사용으로 파서 계층에 국한.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6E5C"/>
                </a:solidFill>
                <a:latin typeface="맑은 고딕"/>
                <a:ea typeface="맑은 고딕"/>
              </a:rPr>
              <a:t>산출물 · 맺음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8242E"/>
                </a:solidFill>
                <a:latin typeface="맑은 고딕"/>
                <a:ea typeface="맑은 고딕"/>
              </a:rPr>
              <a:t>남기고 가는 것 — 발주사가 직접 굴릴 수 있는 상태로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GS텔레서비스 AICC PoC 제안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4864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99616"/>
            <a:ext cx="5157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6E5C"/>
                </a:solidFill>
                <a:latin typeface="맑은 고딕"/>
                <a:ea typeface="맑은 고딕"/>
              </a:rPr>
              <a:t>개방형 인수 (D-01~12)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10512"/>
            <a:ext cx="5157216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B77"/>
                </a:solidFill>
                <a:latin typeface="맑은 고딕"/>
                <a:ea typeface="맑은 고딕"/>
              </a:rPr>
              <a:t>· 데이터·규칙·평가셋: CSV / JSON / SQL — 원본 구조·의미 유지</a:t>
            </a:r>
          </a:p>
          <a:p>
            <a:pPr algn="l"/>
            <a:r>
              <a:rPr sz="1050" b="0">
                <a:solidFill>
                  <a:srgbClr val="5A6B77"/>
                </a:solidFill>
                <a:latin typeface="맑은 고딕"/>
                <a:ea typeface="맑은 고딕"/>
              </a:rPr>
              <a:t>· 소스·설정·프롬프트: 발주사 저장소, 이력·재현 절차 포함</a:t>
            </a:r>
          </a:p>
          <a:p>
            <a:pPr algn="l"/>
            <a:r>
              <a:rPr sz="1050" b="0">
                <a:solidFill>
                  <a:srgbClr val="5A6B77"/>
                </a:solidFill>
                <a:latin typeface="맑은 고딕"/>
                <a:ea typeface="맑은 고딕"/>
              </a:rPr>
              <a:t>· 모델: 표준 모델 파일(GGUF) + 정확한 출처·버전·라이선스 명세</a:t>
            </a:r>
          </a:p>
          <a:p>
            <a:pPr algn="l"/>
            <a:r>
              <a:rPr sz="1050" b="0">
                <a:solidFill>
                  <a:srgbClr val="5A6B77"/>
                </a:solidFill>
                <a:latin typeface="맑은 고딕"/>
                <a:ea typeface="맑은 고딕"/>
              </a:rPr>
              <a:t>· 제출물만으로 핵심 평가 재현 가능 — 인수 조건으로 수용</a:t>
            </a:r>
          </a:p>
          <a:p>
            <a:pPr algn="l"/>
            <a:r>
              <a:rPr sz="1050" b="0">
                <a:solidFill>
                  <a:srgbClr val="5A6B77"/>
                </a:solidFill>
                <a:latin typeface="맑은 고딕"/>
                <a:ea typeface="맑은 고딕"/>
              </a:rPr>
              <a:t>· 종료 시 데이터·로그·백업·모델 캐시 완전삭제 + 확인서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4864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9616"/>
            <a:ext cx="5157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6E5C"/>
                </a:solidFill>
                <a:latin typeface="맑은 고딕"/>
                <a:ea typeface="맑은 고딕"/>
              </a:rPr>
              <a:t>이 제안이 다른 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1810512"/>
            <a:ext cx="5157216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B77"/>
                </a:solidFill>
                <a:latin typeface="맑은 고딕"/>
                <a:ea typeface="맑은 고딕"/>
              </a:rPr>
              <a:t>· 근거·보류·회귀 골격을 이미 제품으로 매일 운영 — 12주를 엔진 개발이 아니라 업무·데이터에 씁니다</a:t>
            </a:r>
          </a:p>
          <a:p>
            <a:pPr algn="l"/>
            <a:r>
              <a:rPr sz="1050" b="0">
                <a:solidFill>
                  <a:srgbClr val="5A6B77"/>
                </a:solidFill>
                <a:latin typeface="맑은 고딕"/>
                <a:ea typeface="맑은 고딕"/>
              </a:rPr>
              <a:t>· 데이터 외부 반출 0 — 학습배제·개인정보 증빙이 가장 단순한 구조</a:t>
            </a:r>
          </a:p>
          <a:p>
            <a:pPr algn="l"/>
            <a:r>
              <a:rPr sz="1050" b="0">
                <a:solidFill>
                  <a:srgbClr val="5A6B77"/>
                </a:solidFill>
                <a:latin typeface="맑은 고딕"/>
                <a:ea typeface="맑은 고딕"/>
              </a:rPr>
              <a:t>· 모델·수행사 교체 절차까지 인수 — 종속이 생기지 않는 설계</a:t>
            </a:r>
          </a:p>
          <a:p>
            <a:pPr algn="l"/>
            <a:r>
              <a:rPr sz="1050" b="0">
                <a:solidFill>
                  <a:srgbClr val="5A6B77"/>
                </a:solidFill>
                <a:latin typeface="맑은 고딕"/>
                <a:ea typeface="맑은 고딕"/>
              </a:rPr>
              <a:t>· 불확실한 3건은 조건부로 정직하게 표기, 확정 시점 명시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754880"/>
            <a:ext cx="45720" cy="1005840"/>
          </a:xfrm>
          <a:prstGeom prst="rect">
            <a:avLst/>
          </a:prstGeom>
          <a:solidFill>
            <a:srgbClr val="0E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828032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8242E"/>
                </a:solidFill>
                <a:latin typeface="맑은 고딕"/>
                <a:ea typeface="맑은 고딕"/>
              </a:rPr>
              <a:t>요약: </a:t>
            </a:r>
            <a:r>
              <a:rPr sz="1150" b="0">
                <a:solidFill>
                  <a:srgbClr val="5A6B77"/>
                </a:solidFill>
                <a:latin typeface="맑은 고딕"/>
                <a:ea typeface="맑은 고딕"/>
              </a:rPr>
              <a:t>상담사가 3초 안에 “된다/안 된다 + 왜 + 어느 규정 몇 판”을 받고, AI가 모르면 모른다고 말하는 시스템 — 그 증명을 12주 안에, 발주사 장비 안에서 끝내겠습니다.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0350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제안사 (확정 후 기재) · 실적·인력·가격은 제출본 별도 작성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6E5C"/>
                </a:solidFill>
                <a:latin typeface="맑은 고딕"/>
                <a:ea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8242E"/>
                </a:solidFill>
                <a:latin typeface="맑은 고딕"/>
                <a:ea typeface="맑은 고딕"/>
              </a:rPr>
              <a:t>용어 풀이 — 본문의 ※ 표시 용어를 쉬운 말로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77"/>
                </a:solidFill>
                <a:latin typeface="맑은 고딕"/>
                <a:ea typeface="맑은 고딕"/>
              </a:rPr>
              <a:t>RFP 8.2항(영문 약어는 최초 사용 시 설명) 취지에 따라, 본문에서는 쉬운 말을 앞세우고 원어를 괄호로 붙였으며 전체 풀이를 여기 모았습니다.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77"/>
                </a:solidFill>
                <a:latin typeface="맑은 고딕"/>
                <a:ea typeface="맑은 고딕"/>
              </a:rPr>
              <a:t>GS텔레서비스 AICC PoC 제안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00200"/>
          <a:ext cx="5486399" cy="3895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3749039"/>
              </a:tblGrid>
              <a:tr h="23774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용어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쉬운 풀이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로컬 LLM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외부 서비스가 아니라 회사 안 GPU에서 직접 돌리는 AI 모델 — 데이터가 밖으로 안 나감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전문가 분업형(MoE)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큰 두뇌를 여러 전문가로 쪼개 질문마다 필요한 전문가만 깨우는 방식 — 큰 지식 + 빠른 속도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압축(양자화)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모델 무게를 압축해 GPU 메모리를 아끼는 기술 — 숫자가 작을수록 가볍지만 미세하게 덜 정밀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표준 모델 파일(GGUF)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누구나 쓰는 표준 형식의 AI 모델 파일 — 특정 회사 전용이 아니라 직접 교체 가능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대화 기억(세션 캐시)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동시 접속자마다 대화 앞부분을 GPU에 기억해 두는 메모장 — 접속자 수만큼 자리 필요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검색 눈(임베딩)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문서와 질문을 “의미 좌표”로 바꿔 비슷한 규정을 찾게 하는 부품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재정렬기(리랭커)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검색이 찾아온 후보들을 “진짜 근거 순”으로 다시 줄 세우는 정밀 심사관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겹검색(하이브리드)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의미로 찾는 검색과 정확한 단어·코드로 찾는 검색을 동시에 쓰는 방식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72200" y="1600200"/>
          <a:ext cx="5486399" cy="3895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3749039"/>
              </a:tblGrid>
              <a:tr h="23774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용어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쉬운 풀이</a:t>
                      </a:r>
                    </a:p>
                  </a:txBody>
                  <a:tcPr marL="54864" marR="54864" marT="9144" marB="9144">
                    <a:solidFill>
                      <a:srgbClr val="F0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근거 묶기(그라운딩)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AI가 제공된 자료 밖의 내용을 지어내지 못하게 근거에 묶어 두는 기법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규정 관계망(온톨로지)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규정·예외·우선순위를 그물처럼 연결한 지식 지도 — AI 재량이 아닌 규칙으로 판단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P95 / P99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100번 중 95번째(99번째)로 느린 응답의 시간 — “평균은 빠른데 가끔 느림”을 잡는 기준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겹쳐 처리(연속 배칭)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여러 사용자의 요청을 GPU에서 겹쳐 처리해 동시 접속에도 속도를 지키는 기법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회귀 평가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뭔가 바꿀 때마다 같은 시험지를 다시 풀게 해 “고치다가 다른 게 망가짐”을 잡는 절차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레드팀 / 가드레일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일부러 공격해 보는 모의 해킹 시험 / 이상한 지시를 실행 전에 막는 안전장치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외부 차단 모드(에어갭)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승인된 통로 외 모든 외부 통신을 코드 수준에서 막는 폐쇄 운전 모드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5A6B77"/>
                          </a:solidFill>
                          <a:latin typeface="맑은 고딕"/>
                          <a:ea typeface="맑은 고딕"/>
                        </a:rPr>
                        <a:t>그림자 운영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8242E"/>
                          </a:solidFill>
                          <a:latin typeface="맑은 고딕"/>
                          <a:ea typeface="맑은 고딕"/>
                        </a:rPr>
                        <a:t>AI를 실제 업무에 바로 쓰지 않고, 상담사가 현행 방식과 병행하며 효과만 재는 방식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